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22579F4-FE27-3CA2-8D24-408073BDBDAA}" name="Hang Hu" initials="HH" userId="Hang Hu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6855"/>
  </p:normalViewPr>
  <p:slideViewPr>
    <p:cSldViewPr snapToGrid="0">
      <p:cViewPr varScale="1">
        <p:scale>
          <a:sx n="63" d="100"/>
          <a:sy n="63" d="100"/>
        </p:scale>
        <p:origin x="2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E8742B1-8F4D-4484-89BD-CC357735FB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1A15A2-67F6-44CA-92F1-4C72E9BFC1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94000"/>
                </a:srgbClr>
              </a:gs>
              <a:gs pos="42000">
                <a:srgbClr val="FFFFFF">
                  <a:alpha val="84000"/>
                </a:srgbClr>
              </a:gs>
              <a:gs pos="62000">
                <a:srgbClr val="FFFFFF">
                  <a:alpha val="40000"/>
                </a:srgbClr>
              </a:gs>
              <a:gs pos="78000">
                <a:srgbClr val="FFFFF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E5A097-C991-4F1B-A28B-56A96FA26BDA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5429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3225"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 algn="l">
              <a:buNone/>
              <a:defRPr sz="322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3225" b="1" i="0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Entanglement-Dynamic Topology for Robust Quantum Sensing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DFD8EE-FA34-44D3-9AD5-B1BB2AE6C2F0}"/>
              </a:ext>
            </a:extLst>
          </p:cNvPr>
          <p:cNvSpPr>
            <a:spLocks noGrp="1"/>
          </p:cNvSpPr>
          <p:nvPr/>
        </p:nvSpPr>
        <p:spPr>
          <a:xfrm>
            <a:off x="400050" y="3286125"/>
            <a:ext cx="1047750" cy="571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965720-5F0A-466B-8F11-CC1B7B70BFF7}"/>
              </a:ext>
            </a:extLst>
          </p:cNvPr>
          <p:cNvSpPr>
            <a:spLocks noGrp="1"/>
          </p:cNvSpPr>
          <p:nvPr/>
        </p:nvSpPr>
        <p:spPr>
          <a:xfrm>
            <a:off x="400050" y="3600450"/>
            <a:ext cx="5191125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0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Finding the finite control window where sensitivity, coherence, fidelity and readout remain jointly effective.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476CF5-4015-4EAD-A4B0-8C218BE4A177}"/>
              </a:ext>
            </a:extLst>
          </p:cNvPr>
          <p:cNvSpPr>
            <a:spLocks noGrp="1"/>
          </p:cNvSpPr>
          <p:nvPr/>
        </p:nvSpPr>
        <p:spPr>
          <a:xfrm>
            <a:off x="400050" y="53340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Hang Hu · Hsu Kiang Ooi · Anguang Hu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1ED859-0E79-45C3-B31E-D1BAC61652D0}"/>
              </a:ext>
            </a:extLst>
          </p:cNvPr>
          <p:cNvSpPr>
            <a:spLocks noGrp="1"/>
          </p:cNvSpPr>
          <p:nvPr/>
        </p:nvSpPr>
        <p:spPr>
          <a:xfrm>
            <a:off x="400050" y="5695950"/>
            <a:ext cx="542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" b="0" i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National Research Council Canada · Defence Research and Development Canada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08B67B-4BD1-43B4-AC34-AAD4D23066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B8DAE5-5368-4649-93AC-22DA44AF1CD7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7484-AC7F-4983-8C76-D92514CBB2E3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93523B-D5A4-4A3B-A215-04B953D3BC8F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AA4532-E66A-48D2-9170-AEC043609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72508E-F8B8-43F7-8A6A-97739259A843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2B65FA-98D3-41F0-90A3-05A1DA487723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39FB05-A6F9-42D6-91E7-0093FDAC1979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8BD443-D482-48AA-8837-7954325A8D3F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1</a:t>
            </a:r>
          </a:p>
        </p:txBody>
      </p:sp>
    </p:spTree>
    <p:extLst>
      <p:ext uri="{BB962C8B-B14F-4D97-AF65-F5344CB8AC3E}">
        <p14:creationId xmlns:p14="http://schemas.microsoft.com/office/powerpoint/2010/main" val="900920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0559ED8B-C2F2-4DA9-B552-FD468319FC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51E370-46E5-4C0F-AD06-1EBF5E8A74C7}"/>
              </a:ext>
            </a:extLst>
          </p:cNvPr>
          <p:cNvSpPr>
            <a:spLocks noGrp="1"/>
          </p:cNvSpPr>
          <p:nvPr/>
        </p:nvSpPr>
        <p:spPr>
          <a:xfrm>
            <a:off x="514350" y="1131979"/>
            <a:ext cx="10827281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>
            <a:defPPr>
              <a:defRPr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 algn="l">
              <a:buNone/>
              <a:def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Introduction: defence applications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B5D0B5-4496-4BD1-A05C-DE8CD3A19068}"/>
              </a:ext>
            </a:extLst>
          </p:cNvPr>
          <p:cNvSpPr>
            <a:spLocks noGrp="1"/>
          </p:cNvSpPr>
          <p:nvPr/>
        </p:nvSpPr>
        <p:spPr>
          <a:xfrm>
            <a:off x="514350" y="1696316"/>
            <a:ext cx="765377" cy="33692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A2566E-8FE3-4756-9ABB-2435D79E9812}"/>
              </a:ext>
            </a:extLst>
          </p:cNvPr>
          <p:cNvSpPr>
            <a:spLocks noGrp="1"/>
          </p:cNvSpPr>
          <p:nvPr/>
        </p:nvSpPr>
        <p:spPr>
          <a:xfrm>
            <a:off x="514350" y="1940581"/>
            <a:ext cx="10827281" cy="53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36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Magnetic and low-frequency RF signatures resist masking and reach where optical sensing fails — exploiting them needs lab sensitivity in a fielded package.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F18EE0B-3681-45B8-9A9F-07BD25E970D3}"/>
              </a:ext>
            </a:extLst>
          </p:cNvPr>
          <p:cNvSpPr>
            <a:spLocks noGrp="1"/>
          </p:cNvSpPr>
          <p:nvPr/>
        </p:nvSpPr>
        <p:spPr>
          <a:xfrm>
            <a:off x="514350" y="2791297"/>
            <a:ext cx="3500199" cy="2131002"/>
          </a:xfrm>
          <a:prstGeom prst="roundRect">
            <a:avLst>
              <a:gd name="adj" fmla="val 379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EA6281-F493-416E-A041-ECB52331F40C}"/>
              </a:ext>
            </a:extLst>
          </p:cNvPr>
          <p:cNvSpPr>
            <a:spLocks noGrp="1"/>
          </p:cNvSpPr>
          <p:nvPr/>
        </p:nvSpPr>
        <p:spPr>
          <a:xfrm>
            <a:off x="514350" y="2791297"/>
            <a:ext cx="3490865" cy="58961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C4E277-A3FB-44D3-925A-A54BAE52A287}"/>
              </a:ext>
            </a:extLst>
          </p:cNvPr>
          <p:cNvSpPr>
            <a:spLocks noGrp="1"/>
          </p:cNvSpPr>
          <p:nvPr/>
        </p:nvSpPr>
        <p:spPr>
          <a:xfrm>
            <a:off x="713348" y="3970508"/>
            <a:ext cx="2968168" cy="6064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>
            <a:defPPr>
              <a:defRPr sz="1088">
                <a:solidFill>
                  <a:srgbClr val="5B64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08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5B6472"/>
                </a:solidFill>
                <a:latin typeface="Arial"/>
                <a:ea typeface="Arial"/>
                <a:cs typeface="Arial"/>
              </a:rPr>
              <a:t>A submerged steel hull distorts Earth’s magnetic field. MAD instruments detect the local anomaly.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AE1B366-5B05-4DD5-8457-2C46B6DC9427}"/>
              </a:ext>
            </a:extLst>
          </p:cNvPr>
          <p:cNvSpPr>
            <a:spLocks noGrp="1"/>
          </p:cNvSpPr>
          <p:nvPr/>
        </p:nvSpPr>
        <p:spPr>
          <a:xfrm>
            <a:off x="4350568" y="2791297"/>
            <a:ext cx="3450822" cy="2156271"/>
          </a:xfrm>
          <a:prstGeom prst="roundRect">
            <a:avLst>
              <a:gd name="adj" fmla="val 379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8A9CF8-EE59-4A46-A172-9E6162FC514F}"/>
              </a:ext>
            </a:extLst>
          </p:cNvPr>
          <p:cNvSpPr>
            <a:spLocks noGrp="1"/>
          </p:cNvSpPr>
          <p:nvPr/>
        </p:nvSpPr>
        <p:spPr>
          <a:xfrm>
            <a:off x="4350568" y="2791297"/>
            <a:ext cx="3490865" cy="58961"/>
          </a:xfrm>
          <a:prstGeom prst="rect">
            <a:avLst/>
          </a:prstGeom>
          <a:solidFill>
            <a:srgbClr val="54A24B"/>
          </a:solidFill>
          <a:ln w="0">
            <a:solidFill>
              <a:srgbClr val="54A24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B1BBFF-E8A7-4F2D-A7E3-E1465314C3A7}"/>
              </a:ext>
            </a:extLst>
          </p:cNvPr>
          <p:cNvSpPr>
            <a:spLocks noGrp="1"/>
          </p:cNvSpPr>
          <p:nvPr/>
        </p:nvSpPr>
        <p:spPr>
          <a:xfrm>
            <a:off x="4611916" y="3077677"/>
            <a:ext cx="2968168" cy="7840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4003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GPS-denied </a:t>
            </a:r>
            <a:r>
              <a:rPr sz="1900">
                <a:solidFill>
                  <a:srgbClr val="111827"/>
                </a:solidFill>
                <a:latin typeface="Arial"/>
                <a:ea typeface="Arial"/>
                <a:cs typeface="Arial"/>
              </a:rPr>
              <a:t>Magnetic navigation</a:t>
            </a:r>
          </a:p>
          <a:p>
            <a:pPr algn="l">
              <a:buNone/>
              <a:defRPr sz="33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3300" b="1" i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A7E6EF-0D85-4C25-B368-444A46B36B4F}"/>
              </a:ext>
            </a:extLst>
          </p:cNvPr>
          <p:cNvSpPr>
            <a:spLocks noGrp="1"/>
          </p:cNvSpPr>
          <p:nvPr/>
        </p:nvSpPr>
        <p:spPr>
          <a:xfrm>
            <a:off x="4611916" y="3646394"/>
            <a:ext cx="2968168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endParaRPr sz="1500" b="1" i="0">
              <a:solidFill>
                <a:srgbClr val="11182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DBAB0B-0C33-4125-A18A-9B8057236284}"/>
              </a:ext>
            </a:extLst>
          </p:cNvPr>
          <p:cNvSpPr>
            <a:spLocks noGrp="1"/>
          </p:cNvSpPr>
          <p:nvPr/>
        </p:nvSpPr>
        <p:spPr>
          <a:xfrm>
            <a:off x="4443906" y="4021467"/>
            <a:ext cx="2968168" cy="7664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8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Anomaly maps give an unjammable position fix where satellite navigation is denied.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278C44-B2AA-4120-911B-CE669275B5E2}"/>
              </a:ext>
            </a:extLst>
          </p:cNvPr>
          <p:cNvSpPr>
            <a:spLocks noGrp="1"/>
          </p:cNvSpPr>
          <p:nvPr/>
        </p:nvSpPr>
        <p:spPr>
          <a:xfrm>
            <a:off x="713348" y="5514030"/>
            <a:ext cx="5756847" cy="8591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b="1" i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hard part is not peak laboratory sensitivity — it is holding a known operating point in the field.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8462EE4-949C-44FB-9E57-F658376FB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114" y="2753394"/>
            <a:ext cx="3490865" cy="151612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F61DF09-6F49-CD96-0D8D-60C15994540F}"/>
              </a:ext>
            </a:extLst>
          </p:cNvPr>
          <p:cNvSpPr>
            <a:spLocks noGrp="1"/>
          </p:cNvSpPr>
          <p:nvPr/>
        </p:nvSpPr>
        <p:spPr>
          <a:xfrm>
            <a:off x="8112114" y="2332247"/>
            <a:ext cx="3226117" cy="3771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SBQuantum magnetic map</a:t>
            </a: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39157F-C8A9-4413-8E8D-1B8D1EDB1B76}"/>
              </a:ext>
            </a:extLst>
          </p:cNvPr>
          <p:cNvSpPr>
            <a:spLocks noGrp="1"/>
          </p:cNvSpPr>
          <p:nvPr/>
        </p:nvSpPr>
        <p:spPr>
          <a:xfrm>
            <a:off x="8112114" y="4345329"/>
            <a:ext cx="3490865" cy="2358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1">
                <a:solidFill>
                  <a:srgbClr val="1F5D9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788" b="1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F5D9B"/>
                </a:solidFill>
                <a:latin typeface="Arial"/>
                <a:ea typeface="Arial"/>
                <a:cs typeface="Arial"/>
              </a:rPr>
              <a:t>Source: SBQuantum, Magnetic Navigation, sbquantum.com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74244D-81A2-4818-AC04-E3D47B2437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868" b="18868"/>
          <a:stretch>
            <a:fillRect/>
          </a:stretch>
        </p:blipFill>
        <p:spPr>
          <a:xfrm>
            <a:off x="8054991" y="4694880"/>
            <a:ext cx="3547988" cy="1328971"/>
          </a:xfrm>
          <a:prstGeom prst="roundRect">
            <a:avLst>
              <a:gd name="adj" fmla="val 7576"/>
            </a:avLst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CB8AD15-03E4-CCB1-82A5-8F9EDAB45059}"/>
              </a:ext>
            </a:extLst>
          </p:cNvPr>
          <p:cNvSpPr>
            <a:spLocks noGrp="1"/>
          </p:cNvSpPr>
          <p:nvPr/>
        </p:nvSpPr>
        <p:spPr>
          <a:xfrm>
            <a:off x="775698" y="3047776"/>
            <a:ext cx="2968168" cy="7840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208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0">
                <a:solidFill>
                  <a:srgbClr val="000000"/>
                </a:solidFill>
                <a:latin typeface="Arial"/>
                <a:ea typeface="Arial"/>
                <a:cs typeface="Arial"/>
              </a:rPr>
              <a:t>Magnetic anomaly detection</a:t>
            </a:r>
            <a:endParaRPr sz="1900">
              <a:solidFill>
                <a:srgbClr val="111827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3300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3300" b="1" i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411AC3-4B6B-43D4-A2F7-C53015B4B2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699E57-2455-4373-B289-B64F16762B7E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634463-AD16-45B5-AAAA-8C3ED1D422F2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3CC1FC-2349-44F3-B0EF-6AD696DB1176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F4D841C-55BA-475C-B432-9D499AAF26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25632802-52DE-4727-BE00-A6AE50C942DC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0F4A2F-0A61-46CE-A33A-EBE0D1140A38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4BD9426-EEF5-43AC-B347-CCCBADA237BB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A17F05B-A991-45AE-B117-6A377BA8CA7B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2</a:t>
            </a:r>
          </a:p>
        </p:txBody>
      </p:sp>
    </p:spTree>
    <p:extLst>
      <p:ext uri="{BB962C8B-B14F-4D97-AF65-F5344CB8AC3E}">
        <p14:creationId xmlns:p14="http://schemas.microsoft.com/office/powerpoint/2010/main" val="504740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C5934D4-FFFA-45CA-9E95-E8A2B101D2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51E370-46E5-4C0F-AD06-1EBF5E8A74C7}"/>
              </a:ext>
            </a:extLst>
          </p:cNvPr>
          <p:cNvSpPr>
            <a:spLocks noGrp="1"/>
          </p:cNvSpPr>
          <p:nvPr/>
        </p:nvSpPr>
        <p:spPr>
          <a:xfrm>
            <a:off x="514350" y="1131979"/>
            <a:ext cx="10827281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>
            <a:defPPr>
              <a:defRPr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 algn="l">
              <a:buNone/>
              <a:def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Introduction: </a:t>
            </a:r>
            <a:r>
              <a:rPr sz="2925" b="1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b</a:t>
            </a:r>
            <a:r>
              <a: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ackground information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B5D0B5-4496-4BD1-A05C-DE8CD3A19068}"/>
              </a:ext>
            </a:extLst>
          </p:cNvPr>
          <p:cNvSpPr>
            <a:spLocks noGrp="1"/>
          </p:cNvSpPr>
          <p:nvPr/>
        </p:nvSpPr>
        <p:spPr>
          <a:xfrm>
            <a:off x="514350" y="1696316"/>
            <a:ext cx="765377" cy="33692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A2566E-8FE3-4756-9ABB-2435D79E9812}"/>
              </a:ext>
            </a:extLst>
          </p:cNvPr>
          <p:cNvSpPr>
            <a:spLocks noGrp="1"/>
          </p:cNvSpPr>
          <p:nvPr/>
        </p:nvSpPr>
        <p:spPr>
          <a:xfrm>
            <a:off x="514350" y="1940581"/>
            <a:ext cx="10827281" cy="53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36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 nitrogen-vacancy defect in diamond is an optically addressable electron spin: initialise with green light, evolve in the field, read out the fluorescence.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F18EE0B-3681-45B8-9A9F-07BD25E970D3}"/>
              </a:ext>
            </a:extLst>
          </p:cNvPr>
          <p:cNvSpPr>
            <a:spLocks noGrp="1"/>
          </p:cNvSpPr>
          <p:nvPr/>
        </p:nvSpPr>
        <p:spPr>
          <a:xfrm>
            <a:off x="514350" y="2791297"/>
            <a:ext cx="3490865" cy="2661647"/>
          </a:xfrm>
          <a:prstGeom prst="roundRect">
            <a:avLst>
              <a:gd name="adj" fmla="val 379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EA6281-F493-416E-A041-ECB52331F40C}"/>
              </a:ext>
            </a:extLst>
          </p:cNvPr>
          <p:cNvSpPr>
            <a:spLocks noGrp="1"/>
          </p:cNvSpPr>
          <p:nvPr/>
        </p:nvSpPr>
        <p:spPr>
          <a:xfrm>
            <a:off x="514350" y="2791297"/>
            <a:ext cx="3490865" cy="58961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461512-01EC-47E9-9605-AA4A46441FE0}"/>
              </a:ext>
            </a:extLst>
          </p:cNvPr>
          <p:cNvSpPr>
            <a:spLocks noGrp="1"/>
          </p:cNvSpPr>
          <p:nvPr/>
        </p:nvSpPr>
        <p:spPr>
          <a:xfrm>
            <a:off x="775698" y="3077677"/>
            <a:ext cx="2968168" cy="724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 =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C5EEFF-BE9E-4131-A544-B5B0FEDC9425}"/>
              </a:ext>
            </a:extLst>
          </p:cNvPr>
          <p:cNvSpPr>
            <a:spLocks noGrp="1"/>
          </p:cNvSpPr>
          <p:nvPr/>
        </p:nvSpPr>
        <p:spPr>
          <a:xfrm>
            <a:off x="775698" y="3886279"/>
            <a:ext cx="2968168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Spin triplet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C4E277-A3FB-44D3-925A-A54BAE52A287}"/>
              </a:ext>
            </a:extLst>
          </p:cNvPr>
          <p:cNvSpPr>
            <a:spLocks noGrp="1"/>
          </p:cNvSpPr>
          <p:nvPr/>
        </p:nvSpPr>
        <p:spPr>
          <a:xfrm>
            <a:off x="775698" y="4517999"/>
            <a:ext cx="2968168" cy="7664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Zeeman splitting shifts the m = ±1 levels linearly with the field along the NV axis.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AE1B366-5B05-4DD5-8457-2C46B6DC9427}"/>
              </a:ext>
            </a:extLst>
          </p:cNvPr>
          <p:cNvSpPr>
            <a:spLocks noGrp="1"/>
          </p:cNvSpPr>
          <p:nvPr/>
        </p:nvSpPr>
        <p:spPr>
          <a:xfrm>
            <a:off x="4350568" y="2791297"/>
            <a:ext cx="3490865" cy="2661647"/>
          </a:xfrm>
          <a:prstGeom prst="roundRect">
            <a:avLst>
              <a:gd name="adj" fmla="val 379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8A9CF8-EE59-4A46-A172-9E6162FC514F}"/>
              </a:ext>
            </a:extLst>
          </p:cNvPr>
          <p:cNvSpPr>
            <a:spLocks noGrp="1"/>
          </p:cNvSpPr>
          <p:nvPr/>
        </p:nvSpPr>
        <p:spPr>
          <a:xfrm>
            <a:off x="4350568" y="2791297"/>
            <a:ext cx="3490865" cy="58961"/>
          </a:xfrm>
          <a:prstGeom prst="rect">
            <a:avLst/>
          </a:prstGeom>
          <a:solidFill>
            <a:srgbClr val="54A24B"/>
          </a:solidFill>
          <a:ln w="0">
            <a:solidFill>
              <a:srgbClr val="54A24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B1BBFF-E8A7-4F2D-A7E3-E1465314C3A7}"/>
              </a:ext>
            </a:extLst>
          </p:cNvPr>
          <p:cNvSpPr>
            <a:spLocks noGrp="1"/>
          </p:cNvSpPr>
          <p:nvPr/>
        </p:nvSpPr>
        <p:spPr>
          <a:xfrm>
            <a:off x="4611916" y="3077677"/>
            <a:ext cx="2968168" cy="724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φ ∝ B·T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A7E6EF-0D85-4C25-B368-444A46B36B4F}"/>
              </a:ext>
            </a:extLst>
          </p:cNvPr>
          <p:cNvSpPr>
            <a:spLocks noGrp="1"/>
          </p:cNvSpPr>
          <p:nvPr/>
        </p:nvSpPr>
        <p:spPr>
          <a:xfrm>
            <a:off x="4611916" y="3886279"/>
            <a:ext cx="2968168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Phase, not amplitude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DBAB0B-0C33-4125-A18A-9B8057236284}"/>
              </a:ext>
            </a:extLst>
          </p:cNvPr>
          <p:cNvSpPr>
            <a:spLocks noGrp="1"/>
          </p:cNvSpPr>
          <p:nvPr/>
        </p:nvSpPr>
        <p:spPr>
          <a:xfrm>
            <a:off x="4611916" y="4517999"/>
            <a:ext cx="2968168" cy="7664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Sensitivity improves with interrogation time, so coherence is the resource that sets it.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483E722-A19C-4D27-8FF1-5807DA64ED30}"/>
              </a:ext>
            </a:extLst>
          </p:cNvPr>
          <p:cNvSpPr>
            <a:spLocks noGrp="1"/>
          </p:cNvSpPr>
          <p:nvPr/>
        </p:nvSpPr>
        <p:spPr>
          <a:xfrm>
            <a:off x="8186785" y="2791297"/>
            <a:ext cx="3490865" cy="2661647"/>
          </a:xfrm>
          <a:prstGeom prst="roundRect">
            <a:avLst>
              <a:gd name="adj" fmla="val 379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6AA7D3-0669-4FEB-A5D8-B44E35AD1A6F}"/>
              </a:ext>
            </a:extLst>
          </p:cNvPr>
          <p:cNvSpPr>
            <a:spLocks noGrp="1"/>
          </p:cNvSpPr>
          <p:nvPr/>
        </p:nvSpPr>
        <p:spPr>
          <a:xfrm>
            <a:off x="8186785" y="2791297"/>
            <a:ext cx="3490865" cy="58961"/>
          </a:xfrm>
          <a:prstGeom prst="rect">
            <a:avLst/>
          </a:prstGeom>
          <a:solidFill>
            <a:srgbClr val="E45756"/>
          </a:solidFill>
          <a:ln w="0">
            <a:solidFill>
              <a:srgbClr val="E4575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8AEAF1-8439-498B-B762-3382749AE1A1}"/>
              </a:ext>
            </a:extLst>
          </p:cNvPr>
          <p:cNvSpPr>
            <a:spLocks noGrp="1"/>
          </p:cNvSpPr>
          <p:nvPr/>
        </p:nvSpPr>
        <p:spPr>
          <a:xfrm>
            <a:off x="8448133" y="3077677"/>
            <a:ext cx="2968168" cy="724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T₂* ≈ µs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4C25BF-9C66-47DD-ABC8-CE32684049A6}"/>
              </a:ext>
            </a:extLst>
          </p:cNvPr>
          <p:cNvSpPr>
            <a:spLocks noGrp="1"/>
          </p:cNvSpPr>
          <p:nvPr/>
        </p:nvSpPr>
        <p:spPr>
          <a:xfrm>
            <a:off x="8448133" y="3886279"/>
            <a:ext cx="2968168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limit to beat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83A431-8C43-449C-A23E-E40DC95DE6DE}"/>
              </a:ext>
            </a:extLst>
          </p:cNvPr>
          <p:cNvSpPr>
            <a:spLocks noGrp="1"/>
          </p:cNvSpPr>
          <p:nvPr/>
        </p:nvSpPr>
        <p:spPr>
          <a:xfrm>
            <a:off x="8448133" y="4517999"/>
            <a:ext cx="2968168" cy="7664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Bath-induced dephasing ends free evolution in microseconds, far short of the phase budget.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278C44-B2AA-4120-911B-CE669275B5E2}"/>
              </a:ext>
            </a:extLst>
          </p:cNvPr>
          <p:cNvSpPr>
            <a:spLocks noGrp="1"/>
          </p:cNvSpPr>
          <p:nvPr/>
        </p:nvSpPr>
        <p:spPr>
          <a:xfrm>
            <a:off x="1074382" y="5722478"/>
            <a:ext cx="10033903" cy="3706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398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Every sensitivity gain here comes from extending usable interrogation time without losing the signal.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A4ADCA-1FFB-4A9C-A73C-1A568A3074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680BC2-F457-4375-B274-0956EFABC5BA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1DCDBA-19E4-4C8B-AC8B-1DFB06DCE671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B84C1B-9151-4AFB-98F0-1ABC314912A5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F42F0F7-7975-4E6A-8766-C91D42A6B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A754186-F072-451F-A859-2823A00E7A9C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C3B926-67AB-4E9C-B0AE-72C55D39C3AF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444444-1E58-497F-9B4C-2D23F9E9CF9A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2DCB4E-84F1-4238-AEF3-EA78B8DBE2B7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3</a:t>
            </a:r>
          </a:p>
        </p:txBody>
      </p:sp>
    </p:spTree>
    <p:extLst>
      <p:ext uri="{BB962C8B-B14F-4D97-AF65-F5344CB8AC3E}">
        <p14:creationId xmlns:p14="http://schemas.microsoft.com/office/powerpoint/2010/main" val="504740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DB1167CD-C2E7-41C1-929B-DFB7A10D00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51E370-46E5-4C0F-AD06-1EBF5E8A74C7}"/>
              </a:ext>
            </a:extLst>
          </p:cNvPr>
          <p:cNvSpPr>
            <a:spLocks noGrp="1"/>
          </p:cNvSpPr>
          <p:nvPr/>
        </p:nvSpPr>
        <p:spPr>
          <a:xfrm>
            <a:off x="514350" y="1131979"/>
            <a:ext cx="10827281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>
            <a:defPPr>
              <a:defRPr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>
              <a:buNone/>
              <a:def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Introduction: </a:t>
            </a:r>
            <a:r>
              <a:rPr sz="2925" b="1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background information</a:t>
            </a:r>
            <a:endParaRPr sz="2925" b="1" i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B5D0B5-4496-4BD1-A05C-DE8CD3A19068}"/>
              </a:ext>
            </a:extLst>
          </p:cNvPr>
          <p:cNvSpPr>
            <a:spLocks noGrp="1"/>
          </p:cNvSpPr>
          <p:nvPr/>
        </p:nvSpPr>
        <p:spPr>
          <a:xfrm>
            <a:off x="514350" y="1696316"/>
            <a:ext cx="765377" cy="33692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A2566E-8FE3-4756-9ABB-2435D79E9812}"/>
              </a:ext>
            </a:extLst>
          </p:cNvPr>
          <p:cNvSpPr>
            <a:spLocks noGrp="1"/>
          </p:cNvSpPr>
          <p:nvPr/>
        </p:nvSpPr>
        <p:spPr>
          <a:xfrm>
            <a:off x="514350" y="1940581"/>
            <a:ext cx="10827281" cy="53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36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 periodic train of π pulses refocuses slow bath noise and makes the sensor respond only near a chosen frequency — extending coherence and adding selectivity at once.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D913239-CF84-C69A-9E3B-D05A2559EF24}"/>
              </a:ext>
            </a:extLst>
          </p:cNvPr>
          <p:cNvSpPr>
            <a:spLocks noGrp="1"/>
          </p:cNvSpPr>
          <p:nvPr/>
        </p:nvSpPr>
        <p:spPr>
          <a:xfrm>
            <a:off x="6544025" y="2584935"/>
            <a:ext cx="5226963" cy="3621862"/>
          </a:xfrm>
          <a:prstGeom prst="roundRect">
            <a:avLst>
              <a:gd name="adj" fmla="val 2791"/>
            </a:avLst>
          </a:prstGeom>
          <a:solidFill>
            <a:srgbClr val="F7F8FA"/>
          </a:solidFill>
          <a:ln w="9525">
            <a:solidFill>
              <a:srgbClr val="D7DBE2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9F0DF7-C191-5953-90B3-AB158F454814}"/>
              </a:ext>
            </a:extLst>
          </p:cNvPr>
          <p:cNvSpPr>
            <a:spLocks noGrp="1"/>
          </p:cNvSpPr>
          <p:nvPr/>
        </p:nvSpPr>
        <p:spPr>
          <a:xfrm>
            <a:off x="6824041" y="2820778"/>
            <a:ext cx="4666931" cy="286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29" lnSpcReduction="2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XY8 block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F3A235-BE8F-A5CA-906E-1C1DFF6BFCBA}"/>
              </a:ext>
            </a:extLst>
          </p:cNvPr>
          <p:cNvSpPr>
            <a:spLocks noGrp="1"/>
          </p:cNvSpPr>
          <p:nvPr/>
        </p:nvSpPr>
        <p:spPr>
          <a:xfrm>
            <a:off x="7010719" y="3957874"/>
            <a:ext cx="4293577" cy="25269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73C965-DF02-23D5-8DD2-BBB1B7AA0F07}"/>
              </a:ext>
            </a:extLst>
          </p:cNvPr>
          <p:cNvSpPr>
            <a:spLocks noGrp="1"/>
          </p:cNvSpPr>
          <p:nvPr/>
        </p:nvSpPr>
        <p:spPr>
          <a:xfrm>
            <a:off x="7197396" y="3528304"/>
            <a:ext cx="65337" cy="859139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CCE0F5-2FA8-9FBD-8C87-945A3C1C0521}"/>
              </a:ext>
            </a:extLst>
          </p:cNvPr>
          <p:cNvSpPr>
            <a:spLocks noGrp="1"/>
          </p:cNvSpPr>
          <p:nvPr/>
        </p:nvSpPr>
        <p:spPr>
          <a:xfrm>
            <a:off x="7132059" y="3292462"/>
            <a:ext cx="205345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24137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558F9B-20EB-D883-5AC2-3F430EDE7FE4}"/>
              </a:ext>
            </a:extLst>
          </p:cNvPr>
          <p:cNvSpPr>
            <a:spLocks noGrp="1"/>
          </p:cNvSpPr>
          <p:nvPr/>
        </p:nvSpPr>
        <p:spPr>
          <a:xfrm>
            <a:off x="7738760" y="3528304"/>
            <a:ext cx="65337" cy="859139"/>
          </a:xfrm>
          <a:prstGeom prst="rect">
            <a:avLst/>
          </a:prstGeom>
          <a:solidFill>
            <a:srgbClr val="F58518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56C543-2C5D-3767-00BE-52D7A3C52A4D}"/>
              </a:ext>
            </a:extLst>
          </p:cNvPr>
          <p:cNvSpPr>
            <a:spLocks noGrp="1"/>
          </p:cNvSpPr>
          <p:nvPr/>
        </p:nvSpPr>
        <p:spPr>
          <a:xfrm>
            <a:off x="7673423" y="3292462"/>
            <a:ext cx="205345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24137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125" b="1" i="0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58518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032809-BF1C-9CBD-3D55-89ACBF6BE7D5}"/>
              </a:ext>
            </a:extLst>
          </p:cNvPr>
          <p:cNvSpPr>
            <a:spLocks noGrp="1"/>
          </p:cNvSpPr>
          <p:nvPr/>
        </p:nvSpPr>
        <p:spPr>
          <a:xfrm>
            <a:off x="8280124" y="3528304"/>
            <a:ext cx="65337" cy="859139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9C92C2-813C-27C8-30DD-514C195E0DFD}"/>
              </a:ext>
            </a:extLst>
          </p:cNvPr>
          <p:cNvSpPr>
            <a:spLocks noGrp="1"/>
          </p:cNvSpPr>
          <p:nvPr/>
        </p:nvSpPr>
        <p:spPr>
          <a:xfrm>
            <a:off x="8214787" y="3292462"/>
            <a:ext cx="205345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24137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E0896D-58C9-94AA-1540-AA962470554E}"/>
              </a:ext>
            </a:extLst>
          </p:cNvPr>
          <p:cNvSpPr>
            <a:spLocks noGrp="1"/>
          </p:cNvSpPr>
          <p:nvPr/>
        </p:nvSpPr>
        <p:spPr>
          <a:xfrm>
            <a:off x="8821488" y="3528304"/>
            <a:ext cx="65337" cy="859139"/>
          </a:xfrm>
          <a:prstGeom prst="rect">
            <a:avLst/>
          </a:prstGeom>
          <a:solidFill>
            <a:srgbClr val="F58518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3893B3F-DCDF-80AD-FF88-D9C6B2E30CFC}"/>
              </a:ext>
            </a:extLst>
          </p:cNvPr>
          <p:cNvSpPr>
            <a:spLocks noGrp="1"/>
          </p:cNvSpPr>
          <p:nvPr/>
        </p:nvSpPr>
        <p:spPr>
          <a:xfrm>
            <a:off x="8756151" y="3292462"/>
            <a:ext cx="205345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24137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125" b="1" i="0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58518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786B6B4-8C2B-76E8-3612-A89DA4122DE6}"/>
              </a:ext>
            </a:extLst>
          </p:cNvPr>
          <p:cNvSpPr>
            <a:spLocks noGrp="1"/>
          </p:cNvSpPr>
          <p:nvPr/>
        </p:nvSpPr>
        <p:spPr>
          <a:xfrm>
            <a:off x="9362852" y="3528304"/>
            <a:ext cx="65337" cy="859139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2F016D-9CEC-B64C-79DF-09F41390A952}"/>
              </a:ext>
            </a:extLst>
          </p:cNvPr>
          <p:cNvSpPr>
            <a:spLocks noGrp="1"/>
          </p:cNvSpPr>
          <p:nvPr/>
        </p:nvSpPr>
        <p:spPr>
          <a:xfrm>
            <a:off x="9297515" y="3292462"/>
            <a:ext cx="205345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24137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055A16-D57F-4B3A-7DBD-503EBB879052}"/>
              </a:ext>
            </a:extLst>
          </p:cNvPr>
          <p:cNvSpPr>
            <a:spLocks noGrp="1"/>
          </p:cNvSpPr>
          <p:nvPr/>
        </p:nvSpPr>
        <p:spPr>
          <a:xfrm>
            <a:off x="9904216" y="3528304"/>
            <a:ext cx="65337" cy="859139"/>
          </a:xfrm>
          <a:prstGeom prst="rect">
            <a:avLst/>
          </a:prstGeom>
          <a:solidFill>
            <a:srgbClr val="F58518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BADE661-A89F-33E2-BC8C-919500C23CDC}"/>
              </a:ext>
            </a:extLst>
          </p:cNvPr>
          <p:cNvSpPr>
            <a:spLocks noGrp="1"/>
          </p:cNvSpPr>
          <p:nvPr/>
        </p:nvSpPr>
        <p:spPr>
          <a:xfrm>
            <a:off x="9838879" y="3292462"/>
            <a:ext cx="205345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24137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125" b="1" i="0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58518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886CC9A-3D00-2F78-F514-8FF28316B9F2}"/>
              </a:ext>
            </a:extLst>
          </p:cNvPr>
          <p:cNvSpPr>
            <a:spLocks noGrp="1"/>
          </p:cNvSpPr>
          <p:nvPr/>
        </p:nvSpPr>
        <p:spPr>
          <a:xfrm>
            <a:off x="10445580" y="3528304"/>
            <a:ext cx="65337" cy="859139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B57C32-F5F2-4E23-9BBB-9A330E96567E}"/>
              </a:ext>
            </a:extLst>
          </p:cNvPr>
          <p:cNvSpPr>
            <a:spLocks noGrp="1"/>
          </p:cNvSpPr>
          <p:nvPr/>
        </p:nvSpPr>
        <p:spPr>
          <a:xfrm>
            <a:off x="10380243" y="3292462"/>
            <a:ext cx="205345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24137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18F4858-55AB-8A0D-A8F8-36785F909039}"/>
              </a:ext>
            </a:extLst>
          </p:cNvPr>
          <p:cNvSpPr>
            <a:spLocks noGrp="1"/>
          </p:cNvSpPr>
          <p:nvPr/>
        </p:nvSpPr>
        <p:spPr>
          <a:xfrm>
            <a:off x="10986944" y="3528304"/>
            <a:ext cx="65337" cy="859139"/>
          </a:xfrm>
          <a:prstGeom prst="rect">
            <a:avLst/>
          </a:prstGeom>
          <a:solidFill>
            <a:srgbClr val="F58518"/>
          </a:solidFill>
          <a:ln w="0">
            <a:noFill/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4B71AE2-E324-D058-A28D-0955FFF2594E}"/>
              </a:ext>
            </a:extLst>
          </p:cNvPr>
          <p:cNvSpPr>
            <a:spLocks noGrp="1"/>
          </p:cNvSpPr>
          <p:nvPr/>
        </p:nvSpPr>
        <p:spPr>
          <a:xfrm>
            <a:off x="10921607" y="3292462"/>
            <a:ext cx="205345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24137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125" b="1" i="0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58518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0674AA-A710-2E6A-77FF-89C59BFDB906}"/>
              </a:ext>
            </a:extLst>
          </p:cNvPr>
          <p:cNvSpPr>
            <a:spLocks noGrp="1"/>
          </p:cNvSpPr>
          <p:nvPr/>
        </p:nvSpPr>
        <p:spPr>
          <a:xfrm>
            <a:off x="7393407" y="4530633"/>
            <a:ext cx="298684" cy="286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959" lnSpcReduction="2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τ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232EAAE-DFAE-4A0D-FD86-060D8D5D3F81}"/>
              </a:ext>
            </a:extLst>
          </p:cNvPr>
          <p:cNvSpPr>
            <a:spLocks noGrp="1"/>
          </p:cNvSpPr>
          <p:nvPr/>
        </p:nvSpPr>
        <p:spPr>
          <a:xfrm>
            <a:off x="7794763" y="4564325"/>
            <a:ext cx="3192181" cy="2695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563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pulse spacing sets the sensing band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DB1C397-0627-B9EA-3B2A-4F9DB0E71C87}"/>
              </a:ext>
            </a:extLst>
          </p:cNvPr>
          <p:cNvSpPr>
            <a:spLocks noGrp="1"/>
          </p:cNvSpPr>
          <p:nvPr/>
        </p:nvSpPr>
        <p:spPr>
          <a:xfrm>
            <a:off x="6973383" y="5221314"/>
            <a:ext cx="4312245" cy="3706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460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250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N blocks  →  8N π pulses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3C7D0B-DFDB-A2F2-1454-72B2BB0B7AE5}"/>
              </a:ext>
            </a:extLst>
          </p:cNvPr>
          <p:cNvSpPr>
            <a:spLocks noGrp="1"/>
          </p:cNvSpPr>
          <p:nvPr/>
        </p:nvSpPr>
        <p:spPr>
          <a:xfrm>
            <a:off x="6973383" y="5684575"/>
            <a:ext cx="4312245" cy="2695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441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5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At resonance:  τ = 1 / (4f)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82A308-64E4-43D9-A0F9-E94B0C1E8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3" y="3228616"/>
            <a:ext cx="6291263" cy="231757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80896E4C-1736-449C-91AF-494C5B3D2B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04A4795-E436-45C3-9937-0397F657BD8E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0A3E7FC-5FEC-4157-B6C0-A429FCF9D097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1614D3D-A0EF-441D-9FDA-04E9A0A80189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10347EB-CAFF-4E7B-BBA3-C0C11B85C3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9129DCA9-0B9E-4C4F-86B4-AB4397208CA6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B238FB2-474B-4C86-98D3-E67106CF0DDC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B0DDA3D-96A8-41AC-9F16-406A4392BF5F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FCEBC88-5D6C-4B01-B6EE-CF1BF2B20AA7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4</a:t>
            </a:r>
          </a:p>
        </p:txBody>
      </p:sp>
    </p:spTree>
    <p:extLst>
      <p:ext uri="{BB962C8B-B14F-4D97-AF65-F5344CB8AC3E}">
        <p14:creationId xmlns:p14="http://schemas.microsoft.com/office/powerpoint/2010/main" val="504740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627EF3DD-B9EB-4415-864B-9002B4690E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51E370-46E5-4C0F-AD06-1EBF5E8A74C7}"/>
              </a:ext>
            </a:extLst>
          </p:cNvPr>
          <p:cNvSpPr>
            <a:spLocks noGrp="1"/>
          </p:cNvSpPr>
          <p:nvPr/>
        </p:nvSpPr>
        <p:spPr>
          <a:xfrm>
            <a:off x="514350" y="1131979"/>
            <a:ext cx="10827281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>
            <a:defPPr>
              <a:defRPr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>
              <a:buNone/>
              <a:def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Introduction: </a:t>
            </a:r>
            <a:r>
              <a:rPr sz="2925" b="1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background information</a:t>
            </a:r>
            <a:endParaRPr sz="2925" b="1" i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B5D0B5-4496-4BD1-A05C-DE8CD3A19068}"/>
              </a:ext>
            </a:extLst>
          </p:cNvPr>
          <p:cNvSpPr>
            <a:spLocks noGrp="1"/>
          </p:cNvSpPr>
          <p:nvPr/>
        </p:nvSpPr>
        <p:spPr>
          <a:xfrm>
            <a:off x="514350" y="1696316"/>
            <a:ext cx="765377" cy="33692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A2566E-8FE3-4756-9ABB-2435D79E9812}"/>
              </a:ext>
            </a:extLst>
          </p:cNvPr>
          <p:cNvSpPr>
            <a:spLocks noGrp="1"/>
          </p:cNvSpPr>
          <p:nvPr/>
        </p:nvSpPr>
        <p:spPr>
          <a:xfrm>
            <a:off x="514350" y="1940581"/>
            <a:ext cx="10827281" cy="53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576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In weak-field magnetometry and narrowband RF sensing, useful control resources compete with the costs of running them.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F18EE0B-3681-45B8-9A9F-07BD25E970D3}"/>
              </a:ext>
            </a:extLst>
          </p:cNvPr>
          <p:cNvSpPr>
            <a:spLocks noGrp="1"/>
          </p:cNvSpPr>
          <p:nvPr/>
        </p:nvSpPr>
        <p:spPr>
          <a:xfrm>
            <a:off x="514350" y="2791297"/>
            <a:ext cx="3490865" cy="2661647"/>
          </a:xfrm>
          <a:prstGeom prst="roundRect">
            <a:avLst>
              <a:gd name="adj" fmla="val 379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EA6281-F493-416E-A041-ECB52331F40C}"/>
              </a:ext>
            </a:extLst>
          </p:cNvPr>
          <p:cNvSpPr>
            <a:spLocks noGrp="1"/>
          </p:cNvSpPr>
          <p:nvPr/>
        </p:nvSpPr>
        <p:spPr>
          <a:xfrm>
            <a:off x="514350" y="2791297"/>
            <a:ext cx="3490865" cy="58961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461512-01EC-47E9-9605-AA4A46441FE0}"/>
              </a:ext>
            </a:extLst>
          </p:cNvPr>
          <p:cNvSpPr>
            <a:spLocks noGrp="1"/>
          </p:cNvSpPr>
          <p:nvPr/>
        </p:nvSpPr>
        <p:spPr>
          <a:xfrm>
            <a:off x="775698" y="3077677"/>
            <a:ext cx="2968168" cy="724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↑ signal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C5EEFF-BE9E-4131-A544-B5B0FEDC9425}"/>
              </a:ext>
            </a:extLst>
          </p:cNvPr>
          <p:cNvSpPr>
            <a:spLocks noGrp="1"/>
          </p:cNvSpPr>
          <p:nvPr/>
        </p:nvSpPr>
        <p:spPr>
          <a:xfrm>
            <a:off x="775698" y="3886279"/>
            <a:ext cx="2968168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Phase accumulation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C4E277-A3FB-44D3-925A-A54BAE52A287}"/>
              </a:ext>
            </a:extLst>
          </p:cNvPr>
          <p:cNvSpPr>
            <a:spLocks noGrp="1"/>
          </p:cNvSpPr>
          <p:nvPr/>
        </p:nvSpPr>
        <p:spPr>
          <a:xfrm>
            <a:off x="775698" y="4517999"/>
            <a:ext cx="2968168" cy="7664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Deeper XY8 sequences accumulate more target phase and sharpen the filter.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AE1B366-5B05-4DD5-8457-2C46B6DC9427}"/>
              </a:ext>
            </a:extLst>
          </p:cNvPr>
          <p:cNvSpPr>
            <a:spLocks noGrp="1"/>
          </p:cNvSpPr>
          <p:nvPr/>
        </p:nvSpPr>
        <p:spPr>
          <a:xfrm>
            <a:off x="4350568" y="2791297"/>
            <a:ext cx="3490865" cy="2661647"/>
          </a:xfrm>
          <a:prstGeom prst="roundRect">
            <a:avLst>
              <a:gd name="adj" fmla="val 379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8A9CF8-EE59-4A46-A172-9E6162FC514F}"/>
              </a:ext>
            </a:extLst>
          </p:cNvPr>
          <p:cNvSpPr>
            <a:spLocks noGrp="1"/>
          </p:cNvSpPr>
          <p:nvPr/>
        </p:nvSpPr>
        <p:spPr>
          <a:xfrm>
            <a:off x="4350568" y="2791297"/>
            <a:ext cx="3490865" cy="58961"/>
          </a:xfrm>
          <a:prstGeom prst="rect">
            <a:avLst/>
          </a:prstGeom>
          <a:solidFill>
            <a:srgbClr val="54A24B"/>
          </a:solidFill>
          <a:ln w="0">
            <a:solidFill>
              <a:srgbClr val="54A24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B1BBFF-E8A7-4F2D-A7E3-E1465314C3A7}"/>
              </a:ext>
            </a:extLst>
          </p:cNvPr>
          <p:cNvSpPr>
            <a:spLocks noGrp="1"/>
          </p:cNvSpPr>
          <p:nvPr/>
        </p:nvSpPr>
        <p:spPr>
          <a:xfrm>
            <a:off x="4611916" y="3077677"/>
            <a:ext cx="2968168" cy="724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↑ selectivity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A7E6EF-0D85-4C25-B368-444A46B36B4F}"/>
              </a:ext>
            </a:extLst>
          </p:cNvPr>
          <p:cNvSpPr>
            <a:spLocks noGrp="1"/>
          </p:cNvSpPr>
          <p:nvPr/>
        </p:nvSpPr>
        <p:spPr>
          <a:xfrm>
            <a:off x="4611916" y="3886279"/>
            <a:ext cx="2968168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Noise rejection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DBAB0B-0C33-4125-A18A-9B8057236284}"/>
              </a:ext>
            </a:extLst>
          </p:cNvPr>
          <p:cNvSpPr>
            <a:spLocks noGrp="1"/>
          </p:cNvSpPr>
          <p:nvPr/>
        </p:nvSpPr>
        <p:spPr>
          <a:xfrm>
            <a:off x="4611916" y="4517999"/>
            <a:ext cx="2968168" cy="7664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Dynamical decoupling suppresses environmental noise around the sensing band.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483E722-A19C-4D27-8FF1-5807DA64ED30}"/>
              </a:ext>
            </a:extLst>
          </p:cNvPr>
          <p:cNvSpPr>
            <a:spLocks noGrp="1"/>
          </p:cNvSpPr>
          <p:nvPr/>
        </p:nvSpPr>
        <p:spPr>
          <a:xfrm>
            <a:off x="8186785" y="2791297"/>
            <a:ext cx="3490865" cy="2661647"/>
          </a:xfrm>
          <a:prstGeom prst="roundRect">
            <a:avLst>
              <a:gd name="adj" fmla="val 379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6AA7D3-0669-4FEB-A5D8-B44E35AD1A6F}"/>
              </a:ext>
            </a:extLst>
          </p:cNvPr>
          <p:cNvSpPr>
            <a:spLocks noGrp="1"/>
          </p:cNvSpPr>
          <p:nvPr/>
        </p:nvSpPr>
        <p:spPr>
          <a:xfrm>
            <a:off x="8186785" y="2791297"/>
            <a:ext cx="3490865" cy="58961"/>
          </a:xfrm>
          <a:prstGeom prst="rect">
            <a:avLst/>
          </a:prstGeom>
          <a:solidFill>
            <a:srgbClr val="E45756"/>
          </a:solidFill>
          <a:ln w="0">
            <a:solidFill>
              <a:srgbClr val="E4575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8AEAF1-8439-498B-B762-3382749AE1A1}"/>
              </a:ext>
            </a:extLst>
          </p:cNvPr>
          <p:cNvSpPr>
            <a:spLocks noGrp="1"/>
          </p:cNvSpPr>
          <p:nvPr/>
        </p:nvSpPr>
        <p:spPr>
          <a:xfrm>
            <a:off x="8448133" y="3077677"/>
            <a:ext cx="2968168" cy="724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↑ cost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4C25BF-9C66-47DD-ABC8-CE32684049A6}"/>
              </a:ext>
            </a:extLst>
          </p:cNvPr>
          <p:cNvSpPr>
            <a:spLocks noGrp="1"/>
          </p:cNvSpPr>
          <p:nvPr/>
        </p:nvSpPr>
        <p:spPr>
          <a:xfrm>
            <a:off x="8448133" y="3886279"/>
            <a:ext cx="2968168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Errors + time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83A431-8C43-449C-A23E-E40DC95DE6DE}"/>
              </a:ext>
            </a:extLst>
          </p:cNvPr>
          <p:cNvSpPr>
            <a:spLocks noGrp="1"/>
          </p:cNvSpPr>
          <p:nvPr/>
        </p:nvSpPr>
        <p:spPr>
          <a:xfrm>
            <a:off x="8448133" y="4517999"/>
            <a:ext cx="2968168" cy="7664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Pulse infidelity, decoherence exposure and overhead accumulate with depth.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278C44-B2AA-4120-911B-CE669275B5E2}"/>
              </a:ext>
            </a:extLst>
          </p:cNvPr>
          <p:cNvSpPr>
            <a:spLocks noGrp="1"/>
          </p:cNvSpPr>
          <p:nvPr/>
        </p:nvSpPr>
        <p:spPr>
          <a:xfrm>
            <a:off x="1074382" y="5722478"/>
            <a:ext cx="10033903" cy="3706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566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Design objective: minimize sensitivity penalty η(τ,N) under all resource constraints—not maximize 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C10B01-8423-4546-8290-9EA8B45C41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6A5A99-26D9-43D8-ADC9-A978B62C9913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7199E3-342D-4E3C-A8FA-D9E24D895C10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583350-353E-411F-9698-1B2E7F9337CF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9E374AE-80A4-4553-A5D0-70CD0F73B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5786623-E056-4D18-A850-48C935094C1F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EB6673-FB95-48C4-8B82-228D5D6D985C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9BB338-7287-4795-B93D-092371419342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207664-2340-490F-B6B5-877719ECCC44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5</a:t>
            </a:r>
          </a:p>
        </p:txBody>
      </p:sp>
    </p:spTree>
    <p:extLst>
      <p:ext uri="{BB962C8B-B14F-4D97-AF65-F5344CB8AC3E}">
        <p14:creationId xmlns:p14="http://schemas.microsoft.com/office/powerpoint/2010/main" val="504740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F184B0C-E7DB-4E11-AC12-87772151CE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B9AF846-B97C-4752-8F53-FF441D00A351}"/>
              </a:ext>
            </a:extLst>
          </p:cNvPr>
          <p:cNvSpPr>
            <a:spLocks noGrp="1"/>
          </p:cNvSpPr>
          <p:nvPr/>
        </p:nvSpPr>
        <p:spPr>
          <a:xfrm>
            <a:off x="514350" y="1131979"/>
            <a:ext cx="10827281" cy="57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 algn="l">
              <a:buNone/>
              <a:def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What EDT Means in This Study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4940B3-0730-48CE-BFED-0FF964A030A5}"/>
              </a:ext>
            </a:extLst>
          </p:cNvPr>
          <p:cNvSpPr>
            <a:spLocks noGrp="1"/>
          </p:cNvSpPr>
          <p:nvPr/>
        </p:nvSpPr>
        <p:spPr>
          <a:xfrm>
            <a:off x="514350" y="1696316"/>
            <a:ext cx="765377" cy="33692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6FA8F6-E5FA-4094-8A44-1CEE679D27E0}"/>
              </a:ext>
            </a:extLst>
          </p:cNvPr>
          <p:cNvSpPr>
            <a:spLocks noGrp="1"/>
          </p:cNvSpPr>
          <p:nvPr/>
        </p:nvSpPr>
        <p:spPr>
          <a:xfrm>
            <a:off x="514350" y="1932158"/>
            <a:ext cx="10827281" cy="35376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5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EDT maps where sensing performance and the required quantum resources remain jointly useful.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1DDCB1-6127-467D-881D-15C8E1E289A6}"/>
              </a:ext>
            </a:extLst>
          </p:cNvPr>
          <p:cNvSpPr>
            <a:spLocks noGrp="1"/>
          </p:cNvSpPr>
          <p:nvPr/>
        </p:nvSpPr>
        <p:spPr>
          <a:xfrm>
            <a:off x="514350" y="2471226"/>
            <a:ext cx="3266852" cy="50538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776179-8E7B-4D36-8331-49E0787FD007}"/>
              </a:ext>
            </a:extLst>
          </p:cNvPr>
          <p:cNvSpPr>
            <a:spLocks noGrp="1"/>
          </p:cNvSpPr>
          <p:nvPr/>
        </p:nvSpPr>
        <p:spPr>
          <a:xfrm>
            <a:off x="514350" y="2631262"/>
            <a:ext cx="3266852" cy="202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ENTANGLEMENT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D3F12E-131D-4FB4-98FB-929F6F605609}"/>
              </a:ext>
            </a:extLst>
          </p:cNvPr>
          <p:cNvSpPr>
            <a:spLocks noGrp="1"/>
          </p:cNvSpPr>
          <p:nvPr/>
        </p:nvSpPr>
        <p:spPr>
          <a:xfrm>
            <a:off x="514350" y="2900795"/>
            <a:ext cx="3266852" cy="2863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Broader framework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3F452-444C-4748-A5BF-B3416999F280}"/>
              </a:ext>
            </a:extLst>
          </p:cNvPr>
          <p:cNvSpPr>
            <a:spLocks noGrp="1"/>
          </p:cNvSpPr>
          <p:nvPr/>
        </p:nvSpPr>
        <p:spPr>
          <a:xfrm>
            <a:off x="514350" y="3246136"/>
            <a:ext cx="3266852" cy="107813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239"/>
          </a:bodyPr>
          <a:lstStyle>
            <a:defPPr algn="l"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Multi-spin entanglement may improve field response, but it also adds preparation and coherence costs.</a:t>
            </a:r>
          </a:p>
          <a:p>
            <a:endParaRPr sz="1238" b="0" i="0">
              <a:solidFill>
                <a:srgbClr val="5B6472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Current study: one NV spin</a:t>
            </a:r>
          </a:p>
          <a:p>
            <a:pPr algn="l"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Future work: coupled or entangled spins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9CE83A-6AC4-410B-AAF6-1B66281DE673}"/>
              </a:ext>
            </a:extLst>
          </p:cNvPr>
          <p:cNvSpPr>
            <a:spLocks noGrp="1"/>
          </p:cNvSpPr>
          <p:nvPr/>
        </p:nvSpPr>
        <p:spPr>
          <a:xfrm>
            <a:off x="4294564" y="2471226"/>
            <a:ext cx="3266852" cy="50538"/>
          </a:xfrm>
          <a:prstGeom prst="rect">
            <a:avLst/>
          </a:prstGeom>
          <a:solidFill>
            <a:srgbClr val="F58518"/>
          </a:solidFill>
          <a:ln w="0">
            <a:solidFill>
              <a:srgbClr val="F58518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C0D8C0-C2EF-452B-A5D5-F47D3D72A394}"/>
              </a:ext>
            </a:extLst>
          </p:cNvPr>
          <p:cNvSpPr>
            <a:spLocks noGrp="1"/>
          </p:cNvSpPr>
          <p:nvPr/>
        </p:nvSpPr>
        <p:spPr>
          <a:xfrm>
            <a:off x="4294564" y="2631262"/>
            <a:ext cx="3266852" cy="202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1" i="0">
                <a:solidFill>
                  <a:srgbClr val="F5851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050" b="1" i="0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58518"/>
                </a:solidFill>
                <a:latin typeface="Arial"/>
                <a:ea typeface="Arial"/>
                <a:cs typeface="Arial"/>
              </a:rPr>
              <a:t>DYNAMICS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537FA-687A-4D21-8DB9-E5E3C0DB122A}"/>
              </a:ext>
            </a:extLst>
          </p:cNvPr>
          <p:cNvSpPr>
            <a:spLocks noGrp="1"/>
          </p:cNvSpPr>
          <p:nvPr/>
        </p:nvSpPr>
        <p:spPr>
          <a:xfrm>
            <a:off x="4294564" y="2900795"/>
            <a:ext cx="3266852" cy="2863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Calculated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740CD2-47BF-44E2-B841-BCD11DA25365}"/>
              </a:ext>
            </a:extLst>
          </p:cNvPr>
          <p:cNvSpPr>
            <a:spLocks noGrp="1"/>
          </p:cNvSpPr>
          <p:nvPr/>
        </p:nvSpPr>
        <p:spPr>
          <a:xfrm>
            <a:off x="4294564" y="3246136"/>
            <a:ext cx="3266852" cy="107813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239"/>
          </a:bodyPr>
          <a:lstStyle>
            <a:defPPr algn="l"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XY8 reshapes the sensor response during a measurement.</a:t>
            </a:r>
          </a:p>
          <a:p>
            <a:endParaRPr sz="1238" b="0" i="0">
              <a:solidFill>
                <a:srgbClr val="5B6472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τ selects the sensing frequency</a:t>
            </a:r>
          </a:p>
          <a:p>
            <a:pPr algn="l"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 controls accumulation, selectivity, errors and duration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80FFA6-6737-470F-BC73-8486EC910D8A}"/>
              </a:ext>
            </a:extLst>
          </p:cNvPr>
          <p:cNvSpPr>
            <a:spLocks noGrp="1"/>
          </p:cNvSpPr>
          <p:nvPr/>
        </p:nvSpPr>
        <p:spPr>
          <a:xfrm>
            <a:off x="8074779" y="2471226"/>
            <a:ext cx="3266852" cy="50538"/>
          </a:xfrm>
          <a:prstGeom prst="rect">
            <a:avLst/>
          </a:prstGeom>
          <a:solidFill>
            <a:srgbClr val="54A24B"/>
          </a:solidFill>
          <a:ln w="0">
            <a:solidFill>
              <a:srgbClr val="54A24B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0CF3B9-A591-4A98-9CF9-EB7783264A56}"/>
              </a:ext>
            </a:extLst>
          </p:cNvPr>
          <p:cNvSpPr>
            <a:spLocks noGrp="1"/>
          </p:cNvSpPr>
          <p:nvPr/>
        </p:nvSpPr>
        <p:spPr>
          <a:xfrm>
            <a:off x="8074779" y="2631262"/>
            <a:ext cx="3266852" cy="202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1" i="0">
                <a:solidFill>
                  <a:srgbClr val="54A24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050" b="1" i="0">
                <a:solidFill>
                  <a:srgbClr val="54A2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4A24B"/>
                </a:solidFill>
                <a:latin typeface="Arial"/>
                <a:ea typeface="Arial"/>
                <a:cs typeface="Arial"/>
              </a:rPr>
              <a:t>TOPOLOGY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73066F-8AE6-4B48-9C7E-DDC668E412E0}"/>
              </a:ext>
            </a:extLst>
          </p:cNvPr>
          <p:cNvSpPr>
            <a:spLocks noGrp="1"/>
          </p:cNvSpPr>
          <p:nvPr/>
        </p:nvSpPr>
        <p:spPr>
          <a:xfrm>
            <a:off x="8074779" y="2900795"/>
            <a:ext cx="3266852" cy="2863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Calculated here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BA9BDE-C40A-498E-9EB3-9CC165D0A7D6}"/>
              </a:ext>
            </a:extLst>
          </p:cNvPr>
          <p:cNvSpPr>
            <a:spLocks noGrp="1"/>
          </p:cNvSpPr>
          <p:nvPr/>
        </p:nvSpPr>
        <p:spPr>
          <a:xfrm>
            <a:off x="8074779" y="3246136"/>
            <a:ext cx="3266852" cy="107813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Near-optimal set:</a:t>
            </a:r>
          </a:p>
          <a:p>
            <a:pPr algn="l"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η(τ,N) ≤ 1.1ηmin</a:t>
            </a:r>
          </a:p>
          <a:p>
            <a:endParaRPr sz="1238" b="0" i="0">
              <a:solidFill>
                <a:srgbClr val="5B6472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At 200 kHz: one connected resonant region, β₀=1, stable under timing-grid refinement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EF2F2A-96F6-4589-BDA1-372E156B2025}"/>
              </a:ext>
            </a:extLst>
          </p:cNvPr>
          <p:cNvSpPr>
            <a:spLocks noGrp="1"/>
          </p:cNvSpPr>
          <p:nvPr/>
        </p:nvSpPr>
        <p:spPr>
          <a:xfrm>
            <a:off x="1998434" y="4442192"/>
            <a:ext cx="8195132" cy="1667741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2"/>
            </a:solidFill>
          </a:ln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4217468-FCBF-4CFF-9DB0-E3CE04183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491852" y="4492730"/>
            <a:ext cx="5208295" cy="156666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6381A31-ABB2-4FFA-8CF9-C90E07D002E5}"/>
              </a:ext>
            </a:extLst>
          </p:cNvPr>
          <p:cNvSpPr>
            <a:spLocks noGrp="1"/>
          </p:cNvSpPr>
          <p:nvPr/>
        </p:nvSpPr>
        <p:spPr>
          <a:xfrm>
            <a:off x="514350" y="6177317"/>
            <a:ext cx="11163300" cy="8423"/>
          </a:xfrm>
          <a:prstGeom prst="rect">
            <a:avLst/>
          </a:prstGeom>
          <a:solidFill>
            <a:srgbClr val="D7DBE2"/>
          </a:solidFill>
          <a:ln w="0">
            <a:solidFill>
              <a:srgbClr val="D7DBE2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FCCEA8-5F20-470E-8989-C6E4FBE809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2E6355-9B8C-463E-9F54-C84374D3DC61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5764AD-F4FD-4B08-B307-1195340E79F7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FBB59B-9EFA-43F1-BE52-12A60FDDC6A9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79011B0-3850-499C-8720-5ACCA2BD0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6B5EBC0-EAE1-43B6-A507-B8D6B71F5B57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716377-380F-4CC9-BAC6-4C3701A172C6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F0736B5-55E1-47A2-946E-12D2E2E3C88B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AD00F6-3F0C-41DD-B265-764C2DE9B256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6</a:t>
            </a:r>
          </a:p>
        </p:txBody>
      </p:sp>
    </p:spTree>
    <p:extLst>
      <p:ext uri="{BB962C8B-B14F-4D97-AF65-F5344CB8AC3E}">
        <p14:creationId xmlns:p14="http://schemas.microsoft.com/office/powerpoint/2010/main" val="639849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35C3B6D7-D910-4466-BD86-C23EB352DA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BBD3531-E9C6-4F43-B11D-F9A82533C906}"/>
              </a:ext>
            </a:extLst>
          </p:cNvPr>
          <p:cNvSpPr>
            <a:spLocks noGrp="1"/>
          </p:cNvSpPr>
          <p:nvPr/>
        </p:nvSpPr>
        <p:spPr>
          <a:xfrm>
            <a:off x="514350" y="1148825"/>
            <a:ext cx="11163300" cy="522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 algn="l">
              <a:buNone/>
              <a:defRPr sz="217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2175" b="1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Refined analysis resolves a finite, hardware-dependent control window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75CA3C-358C-474F-8E6E-5DB1F421B89A}"/>
              </a:ext>
            </a:extLst>
          </p:cNvPr>
          <p:cNvSpPr>
            <a:spLocks noGrp="1"/>
          </p:cNvSpPr>
          <p:nvPr/>
        </p:nvSpPr>
        <p:spPr>
          <a:xfrm>
            <a:off x="514350" y="1696316"/>
            <a:ext cx="765377" cy="33692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9163A44-AD7F-4C91-8035-05D2486B9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17897" y="2159577"/>
            <a:ext cx="8580060" cy="2458486"/>
          </a:xfrm>
          <a:prstGeom prst="roundRect">
            <a:avLst>
              <a:gd name="adj" fmla="val 2400"/>
            </a:avLst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A09962-5E84-46DC-AA33-9E2A33E05F2A}"/>
              </a:ext>
            </a:extLst>
          </p:cNvPr>
          <p:cNvSpPr>
            <a:spLocks noGrp="1"/>
          </p:cNvSpPr>
          <p:nvPr/>
        </p:nvSpPr>
        <p:spPr>
          <a:xfrm>
            <a:off x="9381520" y="1991119"/>
            <a:ext cx="2296130" cy="1221325"/>
          </a:xfrm>
          <a:prstGeom prst="roundRect">
            <a:avLst>
              <a:gd name="adj" fmla="val 8276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BA23F4-3626-4041-9981-E6055CEA9846}"/>
              </a:ext>
            </a:extLst>
          </p:cNvPr>
          <p:cNvSpPr>
            <a:spLocks noGrp="1"/>
          </p:cNvSpPr>
          <p:nvPr/>
        </p:nvSpPr>
        <p:spPr>
          <a:xfrm>
            <a:off x="9381520" y="1991119"/>
            <a:ext cx="2296130" cy="58961"/>
          </a:xfrm>
          <a:prstGeom prst="rect">
            <a:avLst/>
          </a:prstGeom>
          <a:solidFill>
            <a:srgbClr val="E45756"/>
          </a:solidFill>
          <a:ln w="0">
            <a:solidFill>
              <a:srgbClr val="E4575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20CB48-E713-4CC0-9923-205F05B97031}"/>
              </a:ext>
            </a:extLst>
          </p:cNvPr>
          <p:cNvSpPr>
            <a:spLocks noGrp="1"/>
          </p:cNvSpPr>
          <p:nvPr/>
        </p:nvSpPr>
        <p:spPr>
          <a:xfrm>
            <a:off x="9586865" y="2412265"/>
            <a:ext cx="1885440" cy="353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6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6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8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N=20, τ=1.25 μs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75C69B-2CAB-4C28-BD6F-A56382EBB6E1}"/>
              </a:ext>
            </a:extLst>
          </p:cNvPr>
          <p:cNvSpPr>
            <a:spLocks noGrp="1"/>
          </p:cNvSpPr>
          <p:nvPr/>
        </p:nvSpPr>
        <p:spPr>
          <a:xfrm>
            <a:off x="9586865" y="2168000"/>
            <a:ext cx="1885440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680" lnSpcReduction="10000"/>
          </a:bodyPr>
          <a:lstStyle>
            <a:defPPr>
              <a:defRPr sz="1013" b="1">
                <a:solidFill>
                  <a:srgbClr val="1F5D9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013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NOMINAL OPTIMUM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EA4AA7-AA79-4560-830C-ED0E36D28953}"/>
              </a:ext>
            </a:extLst>
          </p:cNvPr>
          <p:cNvSpPr>
            <a:spLocks noGrp="1"/>
          </p:cNvSpPr>
          <p:nvPr/>
        </p:nvSpPr>
        <p:spPr>
          <a:xfrm>
            <a:off x="9586865" y="2824989"/>
            <a:ext cx="1885440" cy="2358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536"/>
          </a:bodyPr>
          <a:lstStyle>
            <a:defPPr>
              <a:defRPr sz="1013">
                <a:solidFill>
                  <a:srgbClr val="5B64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01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160 microwave pulses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B7023B1-38E7-4B4C-A059-7A06D37965AD}"/>
              </a:ext>
            </a:extLst>
          </p:cNvPr>
          <p:cNvSpPr>
            <a:spLocks noGrp="1"/>
          </p:cNvSpPr>
          <p:nvPr/>
        </p:nvSpPr>
        <p:spPr>
          <a:xfrm>
            <a:off x="9381520" y="3414594"/>
            <a:ext cx="2296130" cy="1221325"/>
          </a:xfrm>
          <a:prstGeom prst="roundRect">
            <a:avLst>
              <a:gd name="adj" fmla="val 8276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63BFC6-17F0-464E-A8F3-164AAE6B3E3A}"/>
              </a:ext>
            </a:extLst>
          </p:cNvPr>
          <p:cNvSpPr>
            <a:spLocks noGrp="1"/>
          </p:cNvSpPr>
          <p:nvPr/>
        </p:nvSpPr>
        <p:spPr>
          <a:xfrm>
            <a:off x="9381520" y="3414594"/>
            <a:ext cx="2296130" cy="58961"/>
          </a:xfrm>
          <a:prstGeom prst="rect">
            <a:avLst/>
          </a:prstGeom>
          <a:solidFill>
            <a:srgbClr val="54A24B"/>
          </a:solidFill>
          <a:ln w="0">
            <a:solidFill>
              <a:srgbClr val="54A24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53CAC-419A-4CFA-ADB5-67A11CCC0B19}"/>
              </a:ext>
            </a:extLst>
          </p:cNvPr>
          <p:cNvSpPr>
            <a:spLocks noGrp="1"/>
          </p:cNvSpPr>
          <p:nvPr/>
        </p:nvSpPr>
        <p:spPr>
          <a:xfrm>
            <a:off x="9586865" y="3835741"/>
            <a:ext cx="1885440" cy="3369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906"/>
          </a:bodyPr>
          <a:lstStyle>
            <a:def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N=10–34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71F9FB-2F50-4E0F-8804-ECACB0DB0738}"/>
              </a:ext>
            </a:extLst>
          </p:cNvPr>
          <p:cNvSpPr>
            <a:spLocks noGrp="1"/>
          </p:cNvSpPr>
          <p:nvPr/>
        </p:nvSpPr>
        <p:spPr>
          <a:xfrm>
            <a:off x="9586865" y="3591476"/>
            <a:ext cx="1885440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680" lnSpcReduction="10000"/>
          </a:bodyPr>
          <a:lstStyle>
            <a:defPPr>
              <a:defRPr sz="1013" b="1">
                <a:solidFill>
                  <a:srgbClr val="397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013" b="1" i="0">
                <a:solidFill>
                  <a:srgbClr val="397F35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397F35"/>
                </a:solidFill>
                <a:latin typeface="Arial"/>
                <a:ea typeface="Arial"/>
                <a:cs typeface="Arial"/>
              </a:rPr>
              <a:t>10% OPERATING WINDOW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B8CB07-8EB0-41C6-B9BD-1985949C11E2}"/>
              </a:ext>
            </a:extLst>
          </p:cNvPr>
          <p:cNvSpPr>
            <a:spLocks noGrp="1"/>
          </p:cNvSpPr>
          <p:nvPr/>
        </p:nvSpPr>
        <p:spPr>
          <a:xfrm>
            <a:off x="9586865" y="4214773"/>
            <a:ext cx="1885440" cy="353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sz="1013">
                <a:solidFill>
                  <a:srgbClr val="5B64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01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Within 10% of the minimum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3FC54B2-3DF9-4C2B-8CE7-62BF3B48EDE6}"/>
              </a:ext>
            </a:extLst>
          </p:cNvPr>
          <p:cNvSpPr>
            <a:spLocks noGrp="1"/>
          </p:cNvSpPr>
          <p:nvPr/>
        </p:nvSpPr>
        <p:spPr>
          <a:xfrm>
            <a:off x="9381520" y="4838070"/>
            <a:ext cx="2296130" cy="1221325"/>
          </a:xfrm>
          <a:prstGeom prst="roundRect">
            <a:avLst>
              <a:gd name="adj" fmla="val 8276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6B1386-1529-4CB3-B425-5B0321CE287C}"/>
              </a:ext>
            </a:extLst>
          </p:cNvPr>
          <p:cNvSpPr>
            <a:spLocks noGrp="1"/>
          </p:cNvSpPr>
          <p:nvPr/>
        </p:nvSpPr>
        <p:spPr>
          <a:xfrm>
            <a:off x="9381520" y="4838070"/>
            <a:ext cx="2296130" cy="58961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0F9CAF-8FB5-4AF9-BA56-FBF2467A888D}"/>
              </a:ext>
            </a:extLst>
          </p:cNvPr>
          <p:cNvSpPr>
            <a:spLocks noGrp="1"/>
          </p:cNvSpPr>
          <p:nvPr/>
        </p:nvSpPr>
        <p:spPr>
          <a:xfrm>
            <a:off x="9586865" y="5259217"/>
            <a:ext cx="1885440" cy="3369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76"/>
          </a:bodyPr>
          <a:lstStyle>
            <a:def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Optimal N: 8–64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1A84AF-CEDF-42AB-BC1A-D72705E8BE60}"/>
              </a:ext>
            </a:extLst>
          </p:cNvPr>
          <p:cNvSpPr>
            <a:spLocks noGrp="1"/>
          </p:cNvSpPr>
          <p:nvPr/>
        </p:nvSpPr>
        <p:spPr>
          <a:xfrm>
            <a:off x="9586865" y="5014952"/>
            <a:ext cx="1885440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680" lnSpcReduction="10000"/>
          </a:bodyPr>
          <a:lstStyle>
            <a:defPPr>
              <a:defRPr sz="1013" b="1">
                <a:solidFill>
                  <a:srgbClr val="1F5D9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013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HARDWARE DEPENDENCE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50C0ED-1328-4C59-A8E2-99BEF268B5C8}"/>
              </a:ext>
            </a:extLst>
          </p:cNvPr>
          <p:cNvSpPr>
            <a:spLocks noGrp="1"/>
          </p:cNvSpPr>
          <p:nvPr/>
        </p:nvSpPr>
        <p:spPr>
          <a:xfrm>
            <a:off x="9586865" y="5629826"/>
            <a:ext cx="1885440" cy="353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960"/>
          </a:bodyPr>
          <a:lstStyle>
            <a:defPPr>
              <a:defRPr sz="1013">
                <a:solidFill>
                  <a:srgbClr val="5B647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01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Conservative to optimistic hardware</a:t>
            </a:r>
          </a:p>
        </p:txBody>
      </p:sp>
      <p:sp>
        <p:nvSpPr>
          <p:cNvPr id="28" name="Refinement note background">
            <a:extLst>
              <a:ext uri="{FF2B5EF4-FFF2-40B4-BE49-F238E27FC236}">
                <a16:creationId xmlns:a16="http://schemas.microsoft.com/office/drawing/2014/main" id="{197F53C6-FF89-475A-B6DF-75FCDF1089D4}"/>
              </a:ext>
            </a:extLst>
          </p:cNvPr>
          <p:cNvSpPr>
            <a:spLocks noGrp="1"/>
          </p:cNvSpPr>
          <p:nvPr/>
        </p:nvSpPr>
        <p:spPr>
          <a:xfrm>
            <a:off x="514350" y="4922300"/>
            <a:ext cx="8587154" cy="1061290"/>
          </a:xfrm>
          <a:prstGeom prst="roundRect">
            <a:avLst>
              <a:gd name="adj" fmla="val 9524"/>
            </a:avLst>
          </a:prstGeom>
          <a:solidFill>
            <a:srgbClr val="EAF4FB"/>
          </a:solidFill>
          <a:ln w="9525">
            <a:solidFill>
              <a:srgbClr val="B9D8F0"/>
            </a:solidFill>
            <a:prstDash val="solid"/>
          </a:ln>
        </p:spPr>
      </p:sp>
      <p:sp>
        <p:nvSpPr>
          <p:cNvPr id="29" name="Refinement note">
            <a:extLst>
              <a:ext uri="{FF2B5EF4-FFF2-40B4-BE49-F238E27FC236}">
                <a16:creationId xmlns:a16="http://schemas.microsoft.com/office/drawing/2014/main" id="{B4D5C1E3-DFF5-472E-91F2-CE8A497FC98A}"/>
              </a:ext>
            </a:extLst>
          </p:cNvPr>
          <p:cNvSpPr>
            <a:spLocks noGrp="1"/>
          </p:cNvSpPr>
          <p:nvPr/>
        </p:nvSpPr>
        <p:spPr>
          <a:xfrm>
            <a:off x="738363" y="5107604"/>
            <a:ext cx="8139128" cy="6906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early coarse scan suggested N=4–10. Exact resonance sampling and a denser depth sweep resolve N=20 and a broader N=10–34 near-optimal window.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399AE1-60A0-402F-A2FD-0DC5801FE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EB3716-3CA5-4ED5-973F-FB90275E23DC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3B8332-2A8E-4846-820F-8025D756ED50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764DED-98C3-4FC1-BDDD-EEF0265D86F3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EF11822-7079-425A-A838-359AE30384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86E0B9B-7728-4B77-A974-EDB8F6128062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05F4E60-63AD-4931-9622-3F7ECA83CA90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769ED73-9BD3-4F2D-8417-A1B79B2C0CDD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168D1F7-F9CF-4233-97C4-AF6CD2010604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7</a:t>
            </a:r>
          </a:p>
        </p:txBody>
      </p:sp>
    </p:spTree>
    <p:extLst>
      <p:ext uri="{BB962C8B-B14F-4D97-AF65-F5344CB8AC3E}">
        <p14:creationId xmlns:p14="http://schemas.microsoft.com/office/powerpoint/2010/main" val="142859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9EC24D41-1D0E-4128-A219-6E890821A5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1A05069-4DFC-4B22-8DBF-58C5608D6819}"/>
              </a:ext>
            </a:extLst>
          </p:cNvPr>
          <p:cNvSpPr>
            <a:spLocks noGrp="1"/>
          </p:cNvSpPr>
          <p:nvPr/>
        </p:nvSpPr>
        <p:spPr>
          <a:xfrm>
            <a:off x="514350" y="1131979"/>
            <a:ext cx="10827281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>
            <a:defPPr>
              <a:defRPr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>
              <a:buNone/>
              <a:def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2925" b="1" dirty="0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Pulse Errors Create a Finite Optimal Control Depth</a:t>
            </a:r>
          </a:p>
          <a:p>
            <a:pPr>
              <a:buNone/>
              <a:defRPr sz="2925" b="1" i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2925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BE3E13-F859-4CD5-A98C-763D6E448C93}"/>
              </a:ext>
            </a:extLst>
          </p:cNvPr>
          <p:cNvSpPr>
            <a:spLocks noGrp="1"/>
          </p:cNvSpPr>
          <p:nvPr/>
        </p:nvSpPr>
        <p:spPr>
          <a:xfrm>
            <a:off x="514350" y="1696316"/>
            <a:ext cx="765377" cy="33692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7711DBF-22AC-4B3F-AF76-8A57496C8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14350" y="2573649"/>
            <a:ext cx="8587154" cy="2945416"/>
          </a:xfrm>
          <a:prstGeom prst="roundRect">
            <a:avLst>
              <a:gd name="adj" fmla="val 2400"/>
            </a:avLst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D27D52-38C2-4DA7-AE18-E9C64F9AB511}"/>
              </a:ext>
            </a:extLst>
          </p:cNvPr>
          <p:cNvSpPr>
            <a:spLocks noGrp="1"/>
          </p:cNvSpPr>
          <p:nvPr/>
        </p:nvSpPr>
        <p:spPr>
          <a:xfrm>
            <a:off x="9381520" y="1999542"/>
            <a:ext cx="2296130" cy="4059854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9525">
            <a:solidFill>
              <a:srgbClr val="D7DBE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E45035-04D2-420A-979E-4DD3EA8792E2}"/>
              </a:ext>
            </a:extLst>
          </p:cNvPr>
          <p:cNvSpPr>
            <a:spLocks noGrp="1"/>
          </p:cNvSpPr>
          <p:nvPr/>
        </p:nvSpPr>
        <p:spPr>
          <a:xfrm>
            <a:off x="9642868" y="2226961"/>
            <a:ext cx="1773434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786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975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E5E304-9360-4A98-9B43-DD6976A0BB41}"/>
              </a:ext>
            </a:extLst>
          </p:cNvPr>
          <p:cNvSpPr>
            <a:spLocks noGrp="1"/>
          </p:cNvSpPr>
          <p:nvPr/>
        </p:nvSpPr>
        <p:spPr>
          <a:xfrm>
            <a:off x="9642868" y="2622839"/>
            <a:ext cx="1773434" cy="4716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356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Remove pulse errors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1183F8-9870-46EE-9C4C-80098C5B5D2D}"/>
              </a:ext>
            </a:extLst>
          </p:cNvPr>
          <p:cNvSpPr>
            <a:spLocks noGrp="1"/>
          </p:cNvSpPr>
          <p:nvPr/>
        </p:nvSpPr>
        <p:spPr>
          <a:xfrm>
            <a:off x="9642868" y="3187175"/>
            <a:ext cx="1773434" cy="3874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93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00" b="1" i="0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58518"/>
                </a:solidFill>
                <a:latin typeface="Arial"/>
                <a:ea typeface="Arial"/>
                <a:cs typeface="Arial"/>
              </a:rPr>
              <a:t>20 → 128*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60610D-FF1F-4CAF-8A5D-B765C5E12258}"/>
              </a:ext>
            </a:extLst>
          </p:cNvPr>
          <p:cNvSpPr>
            <a:spLocks noGrp="1"/>
          </p:cNvSpPr>
          <p:nvPr/>
        </p:nvSpPr>
        <p:spPr>
          <a:xfrm>
            <a:off x="9642868" y="3616745"/>
            <a:ext cx="1773434" cy="286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215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~71% lower η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9E595F-7AD0-4B1C-BE74-A153E23426A5}"/>
              </a:ext>
            </a:extLst>
          </p:cNvPr>
          <p:cNvSpPr>
            <a:spLocks noGrp="1"/>
          </p:cNvSpPr>
          <p:nvPr/>
        </p:nvSpPr>
        <p:spPr>
          <a:xfrm>
            <a:off x="9642868" y="4130544"/>
            <a:ext cx="1717431" cy="8423"/>
          </a:xfrm>
          <a:prstGeom prst="rect">
            <a:avLst/>
          </a:prstGeom>
          <a:solidFill>
            <a:srgbClr val="D7DBE2"/>
          </a:solidFill>
          <a:ln w="0">
            <a:solidFill>
              <a:srgbClr val="D7DBE2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D6813D-4949-421B-AE06-1FE1AC8352E9}"/>
              </a:ext>
            </a:extLst>
          </p:cNvPr>
          <p:cNvSpPr>
            <a:spLocks noGrp="1"/>
          </p:cNvSpPr>
          <p:nvPr/>
        </p:nvSpPr>
        <p:spPr>
          <a:xfrm>
            <a:off x="9642868" y="4357963"/>
            <a:ext cx="1773434" cy="3032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125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Remove decoherence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67DDA5-5BCB-4A57-8160-807BCFD93108}"/>
              </a:ext>
            </a:extLst>
          </p:cNvPr>
          <p:cNvSpPr>
            <a:spLocks noGrp="1"/>
          </p:cNvSpPr>
          <p:nvPr/>
        </p:nvSpPr>
        <p:spPr>
          <a:xfrm>
            <a:off x="9642868" y="4703303"/>
            <a:ext cx="1773434" cy="522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 stays 20; η improves ~4.8%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D4490A-5377-4555-A353-5913E57BB9C9}"/>
              </a:ext>
            </a:extLst>
          </p:cNvPr>
          <p:cNvSpPr>
            <a:spLocks noGrp="1"/>
          </p:cNvSpPr>
          <p:nvPr/>
        </p:nvSpPr>
        <p:spPr>
          <a:xfrm>
            <a:off x="9642868" y="5351869"/>
            <a:ext cx="1773434" cy="286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751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Remove overhead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277AA1-75A5-48A7-B2E6-B5B2AE866993}"/>
              </a:ext>
            </a:extLst>
          </p:cNvPr>
          <p:cNvSpPr>
            <a:spLocks noGrp="1"/>
          </p:cNvSpPr>
          <p:nvPr/>
        </p:nvSpPr>
        <p:spPr>
          <a:xfrm>
            <a:off x="9642868" y="5671941"/>
            <a:ext cx="1773434" cy="3032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291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 stays 20; &lt;1% change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69E100-53B3-6300-2974-F98ECBBBA782}"/>
              </a:ext>
            </a:extLst>
          </p:cNvPr>
          <p:cNvSpPr>
            <a:spLocks noGrp="1"/>
          </p:cNvSpPr>
          <p:nvPr/>
        </p:nvSpPr>
        <p:spPr>
          <a:xfrm>
            <a:off x="836928" y="5566907"/>
            <a:ext cx="8264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Pulse-error accumulation creates the interior optimum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0C5A21-3DBA-49EA-BC35-7DA6F3FD7A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BB0885-D8A9-4B85-9F04-66F6D97724C3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641EE3-A0FB-4BB2-B31A-F0615FF7C3A6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3F3949-A9CB-4C39-B5C8-E4B6E424EAFA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8EF1C8F-D757-4FF4-B8C3-40044DD22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876CB78-F313-4307-9551-BF66A142655B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59DBBD-DF7A-4705-9B58-AE09BC3A59D0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4DEF49-8545-44CC-865A-8F33607CB8AC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BBCC77-F0B9-49CC-9331-7AA02FE1E367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8</a:t>
            </a:r>
          </a:p>
        </p:txBody>
      </p:sp>
    </p:spTree>
    <p:extLst>
      <p:ext uri="{BB962C8B-B14F-4D97-AF65-F5344CB8AC3E}">
        <p14:creationId xmlns:p14="http://schemas.microsoft.com/office/powerpoint/2010/main" val="1731989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9B648CB6-AEB3-4299-8CC8-A0833D0E77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2DC899-86F9-4B26-B4E7-E253C4D0221C}"/>
              </a:ext>
            </a:extLst>
          </p:cNvPr>
          <p:cNvSpPr>
            <a:spLocks noGrp="1"/>
          </p:cNvSpPr>
          <p:nvPr/>
        </p:nvSpPr>
        <p:spPr>
          <a:xfrm>
            <a:off x="514350" y="1131979"/>
            <a:ext cx="10827281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>
            <a:defPPr>
              <a:defRPr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>
              <a:buNone/>
              <a:def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2925" b="1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Results: Pulse Timing Selects the Target Sensing Frequency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96E01F-3CEA-4785-BA3D-BE0C71E20C50}"/>
              </a:ext>
            </a:extLst>
          </p:cNvPr>
          <p:cNvSpPr>
            <a:spLocks noGrp="1"/>
          </p:cNvSpPr>
          <p:nvPr/>
        </p:nvSpPr>
        <p:spPr>
          <a:xfrm>
            <a:off x="514350" y="1696316"/>
            <a:ext cx="765377" cy="33692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7422B5-70B0-47A7-91E4-75F5CD862DE9}"/>
              </a:ext>
            </a:extLst>
          </p:cNvPr>
          <p:cNvSpPr>
            <a:spLocks noGrp="1"/>
          </p:cNvSpPr>
          <p:nvPr/>
        </p:nvSpPr>
        <p:spPr>
          <a:xfrm>
            <a:off x="514350" y="1940581"/>
            <a:ext cx="8587154" cy="4211467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B339870-6D55-4825-A586-85E010E9B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14350" y="2615005"/>
            <a:ext cx="8587154" cy="2862534"/>
          </a:xfrm>
          <a:prstGeom prst="roundRect">
            <a:avLst>
              <a:gd name="adj" fmla="val 2400"/>
            </a:avLst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201C8A5-D791-40C3-A36D-2255C13F67F6}"/>
              </a:ext>
            </a:extLst>
          </p:cNvPr>
          <p:cNvSpPr>
            <a:spLocks noGrp="1"/>
          </p:cNvSpPr>
          <p:nvPr/>
        </p:nvSpPr>
        <p:spPr>
          <a:xfrm>
            <a:off x="9381520" y="1999542"/>
            <a:ext cx="2296130" cy="4059854"/>
          </a:xfrm>
          <a:prstGeom prst="roundRect">
            <a:avLst>
              <a:gd name="adj" fmla="val 4878"/>
            </a:avLst>
          </a:prstGeom>
          <a:solidFill>
            <a:srgbClr val="EAF5FB"/>
          </a:solidFill>
          <a:ln w="9525">
            <a:solidFill>
              <a:srgbClr val="D7DBE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235DAA-7DAD-46BB-96E2-3AE363F82EE2}"/>
              </a:ext>
            </a:extLst>
          </p:cNvPr>
          <p:cNvSpPr>
            <a:spLocks noGrp="1"/>
          </p:cNvSpPr>
          <p:nvPr/>
        </p:nvSpPr>
        <p:spPr>
          <a:xfrm>
            <a:off x="9642868" y="2226961"/>
            <a:ext cx="1773434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786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975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DIRECT RULE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570125-EA1D-40D0-8BA6-FAF7EEE5CF45}"/>
              </a:ext>
            </a:extLst>
          </p:cNvPr>
          <p:cNvSpPr>
            <a:spLocks noGrp="1"/>
          </p:cNvSpPr>
          <p:nvPr/>
        </p:nvSpPr>
        <p:spPr>
          <a:xfrm>
            <a:off x="9549529" y="2648107"/>
            <a:ext cx="1960111" cy="4548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τ = 1 / (4f)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7B4A3F-E460-4404-92F6-FE92B7FF8CA0}"/>
              </a:ext>
            </a:extLst>
          </p:cNvPr>
          <p:cNvSpPr>
            <a:spLocks noGrp="1"/>
          </p:cNvSpPr>
          <p:nvPr/>
        </p:nvSpPr>
        <p:spPr>
          <a:xfrm>
            <a:off x="9642868" y="3423017"/>
            <a:ext cx="1773434" cy="353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27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00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50–500 kHz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39A7D9-8257-4468-B21D-B87631876DE6}"/>
              </a:ext>
            </a:extLst>
          </p:cNvPr>
          <p:cNvSpPr>
            <a:spLocks noGrp="1"/>
          </p:cNvSpPr>
          <p:nvPr/>
        </p:nvSpPr>
        <p:spPr>
          <a:xfrm>
            <a:off x="9642868" y="3852587"/>
            <a:ext cx="1773434" cy="6401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128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Modeled τ follows the analytic primary resonance.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5424A3-795A-42B5-8076-260715A1EFFC}"/>
              </a:ext>
            </a:extLst>
          </p:cNvPr>
          <p:cNvSpPr>
            <a:spLocks noGrp="1"/>
          </p:cNvSpPr>
          <p:nvPr/>
        </p:nvSpPr>
        <p:spPr>
          <a:xfrm>
            <a:off x="9642868" y="4661189"/>
            <a:ext cx="1717431" cy="8423"/>
          </a:xfrm>
          <a:prstGeom prst="rect">
            <a:avLst/>
          </a:prstGeom>
          <a:solidFill>
            <a:srgbClr val="D7DBE2"/>
          </a:solidFill>
          <a:ln w="0">
            <a:solidFill>
              <a:srgbClr val="D7DBE2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3E7DFF-7368-4017-B3C2-D36ED9C4C8DD}"/>
              </a:ext>
            </a:extLst>
          </p:cNvPr>
          <p:cNvSpPr>
            <a:spLocks noGrp="1"/>
          </p:cNvSpPr>
          <p:nvPr/>
        </p:nvSpPr>
        <p:spPr>
          <a:xfrm>
            <a:off x="9642868" y="4897031"/>
            <a:ext cx="1773434" cy="2695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563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Best depth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7BFFA9-C197-4656-B36A-EC1DAB20FDD7}"/>
              </a:ext>
            </a:extLst>
          </p:cNvPr>
          <p:cNvSpPr>
            <a:spLocks noGrp="1"/>
          </p:cNvSpPr>
          <p:nvPr/>
        </p:nvSpPr>
        <p:spPr>
          <a:xfrm>
            <a:off x="9642868" y="5233948"/>
            <a:ext cx="1773434" cy="353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271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1" i="0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58518"/>
                </a:solidFill>
                <a:latin typeface="Arial"/>
                <a:ea typeface="Arial"/>
                <a:cs typeface="Arial"/>
              </a:rPr>
              <a:t>N = 8 → 20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268DF4-3C18-4520-B972-BA23350EC82A}"/>
              </a:ext>
            </a:extLst>
          </p:cNvPr>
          <p:cNvSpPr>
            <a:spLocks noGrp="1"/>
          </p:cNvSpPr>
          <p:nvPr/>
        </p:nvSpPr>
        <p:spPr>
          <a:xfrm>
            <a:off x="9642868" y="5655095"/>
            <a:ext cx="1773434" cy="3874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931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10% window changes with band.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11F5F6-427E-389B-F1CC-50B688CA9E9B}"/>
              </a:ext>
            </a:extLst>
          </p:cNvPr>
          <p:cNvSpPr>
            <a:spLocks noGrp="1"/>
          </p:cNvSpPr>
          <p:nvPr/>
        </p:nvSpPr>
        <p:spPr>
          <a:xfrm>
            <a:off x="1738579" y="5562864"/>
            <a:ext cx="5977499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Timing tracks the sensing band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B59C23-B424-4B97-B192-3B2FA5FA5A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576A0B-78E6-4425-970E-152D6B385317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E815AA-9749-4329-8D70-5E22DEEC89D8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1FD398-6084-410F-8076-13F231F4F3C4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77284E0-80AA-4396-8A52-50B87E46C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99F6411-25E4-4F61-AE4D-BAB457FFCEA3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EDF6BC-C67A-4947-A5D4-10275B5D8DA4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742623-DB39-4C13-AF3A-777DA773D061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D140D8-497C-4F9B-9B95-19668FAC1B9B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9</a:t>
            </a:r>
          </a:p>
        </p:txBody>
      </p:sp>
    </p:spTree>
    <p:extLst>
      <p:ext uri="{BB962C8B-B14F-4D97-AF65-F5344CB8AC3E}">
        <p14:creationId xmlns:p14="http://schemas.microsoft.com/office/powerpoint/2010/main" val="368383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CB8111AE-0A88-46C5-870C-AAE32BDD60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D19989-5525-4202-81E4-E039CCF41F73}"/>
              </a:ext>
            </a:extLst>
          </p:cNvPr>
          <p:cNvSpPr>
            <a:spLocks noGrp="1"/>
          </p:cNvSpPr>
          <p:nvPr/>
        </p:nvSpPr>
        <p:spPr>
          <a:xfrm>
            <a:off x="514350" y="1131979"/>
            <a:ext cx="10827281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>
            <a:defPPr>
              <a:defRPr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>
              <a:buNone/>
              <a:def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2925" b="1" dirty="0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N = 16 Preserves Performance with Fewer Pulses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2CCD32-1260-40D3-919D-8C009EA6D744}"/>
              </a:ext>
            </a:extLst>
          </p:cNvPr>
          <p:cNvSpPr>
            <a:spLocks noGrp="1"/>
          </p:cNvSpPr>
          <p:nvPr/>
        </p:nvSpPr>
        <p:spPr>
          <a:xfrm>
            <a:off x="514350" y="1696316"/>
            <a:ext cx="765377" cy="33692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7F0D56-25BB-45E7-99D4-FA1144320FCE}"/>
              </a:ext>
            </a:extLst>
          </p:cNvPr>
          <p:cNvSpPr>
            <a:spLocks noGrp="1"/>
          </p:cNvSpPr>
          <p:nvPr/>
        </p:nvSpPr>
        <p:spPr>
          <a:xfrm>
            <a:off x="514350" y="1940581"/>
            <a:ext cx="8587154" cy="4211467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8A6FB20-9510-4D23-9689-C07C979DC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14350" y="2618290"/>
            <a:ext cx="8587154" cy="2855964"/>
          </a:xfrm>
          <a:prstGeom prst="roundRect">
            <a:avLst>
              <a:gd name="adj" fmla="val 2400"/>
            </a:avLst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7C8F1A-92E8-4E59-983D-12BEBE4690F5}"/>
              </a:ext>
            </a:extLst>
          </p:cNvPr>
          <p:cNvSpPr>
            <a:spLocks noGrp="1"/>
          </p:cNvSpPr>
          <p:nvPr/>
        </p:nvSpPr>
        <p:spPr>
          <a:xfrm>
            <a:off x="9381520" y="1999542"/>
            <a:ext cx="2296130" cy="4059854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9525">
            <a:solidFill>
              <a:srgbClr val="D7DBE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DA3B45-CE41-433B-9E69-35D48FBEA5AE}"/>
              </a:ext>
            </a:extLst>
          </p:cNvPr>
          <p:cNvSpPr>
            <a:spLocks noGrp="1"/>
          </p:cNvSpPr>
          <p:nvPr/>
        </p:nvSpPr>
        <p:spPr>
          <a:xfrm>
            <a:off x="9642868" y="2226961"/>
            <a:ext cx="1773434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786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975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PRACTICAL CHOICE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B2CFBA-F1A3-4276-93F0-36EEB5B2EEC6}"/>
              </a:ext>
            </a:extLst>
          </p:cNvPr>
          <p:cNvSpPr>
            <a:spLocks noGrp="1"/>
          </p:cNvSpPr>
          <p:nvPr/>
        </p:nvSpPr>
        <p:spPr>
          <a:xfrm>
            <a:off x="9642868" y="2656530"/>
            <a:ext cx="1773434" cy="4548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963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 = 16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287BE4-63E2-419A-BE7D-CA1ABB7C3FA2}"/>
              </a:ext>
            </a:extLst>
          </p:cNvPr>
          <p:cNvSpPr>
            <a:spLocks noGrp="1"/>
          </p:cNvSpPr>
          <p:nvPr/>
        </p:nvSpPr>
        <p:spPr>
          <a:xfrm>
            <a:off x="9642868" y="3178752"/>
            <a:ext cx="1773434" cy="286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215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75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128 π pulses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ED07CF-7E84-4864-A2E9-FD14835B6135}"/>
              </a:ext>
            </a:extLst>
          </p:cNvPr>
          <p:cNvSpPr>
            <a:spLocks noGrp="1"/>
          </p:cNvSpPr>
          <p:nvPr/>
        </p:nvSpPr>
        <p:spPr>
          <a:xfrm>
            <a:off x="9642868" y="3759935"/>
            <a:ext cx="1717431" cy="8423"/>
          </a:xfrm>
          <a:prstGeom prst="rect">
            <a:avLst/>
          </a:prstGeom>
          <a:solidFill>
            <a:srgbClr val="D7DBE2"/>
          </a:solidFill>
          <a:ln w="0">
            <a:solidFill>
              <a:srgbClr val="D7DBE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7DE337-E7BE-4381-8BFF-FF7357042715}"/>
              </a:ext>
            </a:extLst>
          </p:cNvPr>
          <p:cNvSpPr>
            <a:spLocks noGrp="1"/>
          </p:cNvSpPr>
          <p:nvPr/>
        </p:nvSpPr>
        <p:spPr>
          <a:xfrm>
            <a:off x="9642868" y="4046314"/>
            <a:ext cx="1773434" cy="5053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226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150" b="1" i="0">
                <a:solidFill>
                  <a:srgbClr val="54A24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54A24B"/>
                </a:solidFill>
                <a:latin typeface="Arial"/>
                <a:ea typeface="Arial"/>
                <a:cs typeface="Arial"/>
              </a:rPr>
              <a:t>−20%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58ADAD-178C-4493-8BC4-DC61771EC2E8}"/>
              </a:ext>
            </a:extLst>
          </p:cNvPr>
          <p:cNvSpPr>
            <a:spLocks noGrp="1"/>
          </p:cNvSpPr>
          <p:nvPr/>
        </p:nvSpPr>
        <p:spPr>
          <a:xfrm>
            <a:off x="9642868" y="4576959"/>
            <a:ext cx="1773434" cy="2358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187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pulse count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556737-CF68-4AC4-B8ED-D19F7950572C}"/>
              </a:ext>
            </a:extLst>
          </p:cNvPr>
          <p:cNvSpPr>
            <a:spLocks noGrp="1"/>
          </p:cNvSpPr>
          <p:nvPr/>
        </p:nvSpPr>
        <p:spPr>
          <a:xfrm>
            <a:off x="9642868" y="5065489"/>
            <a:ext cx="1773434" cy="4379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175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550" b="1" i="0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8518"/>
                </a:solidFill>
                <a:latin typeface="Arial"/>
                <a:ea typeface="Arial"/>
                <a:cs typeface="Arial"/>
              </a:rPr>
              <a:t>+0.97%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8841FB-0C69-4576-9BED-027E51F3F66D}"/>
              </a:ext>
            </a:extLst>
          </p:cNvPr>
          <p:cNvSpPr>
            <a:spLocks noGrp="1"/>
          </p:cNvSpPr>
          <p:nvPr/>
        </p:nvSpPr>
        <p:spPr>
          <a:xfrm>
            <a:off x="9642868" y="5545597"/>
            <a:ext cx="1773434" cy="2695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55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sensitivity penalty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B5B76F-E9CD-46B4-AD37-FA86D7AE28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B9D927-D44C-4506-8602-E81CC255C230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CE8AA1-BAA4-4B81-9CC1-63E0AA5B2E50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D3306E-DC9C-4EB5-AA3C-78C17B0FDAAF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E8BD788-5898-496C-9843-9E28DE5FA2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97AC0F3-F23F-4C8F-B099-19BB7C9DE2BF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6B49E1-B70E-479B-9A73-5DB648DC5281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C5653F-03A7-477B-ACCA-6AB34182DAA1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8320F7-D2FD-4A92-AD83-E6C44D791FF8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10</a:t>
            </a:r>
          </a:p>
        </p:txBody>
      </p:sp>
    </p:spTree>
    <p:extLst>
      <p:ext uri="{BB962C8B-B14F-4D97-AF65-F5344CB8AC3E}">
        <p14:creationId xmlns:p14="http://schemas.microsoft.com/office/powerpoint/2010/main" val="561336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82432F02-3DC6-40B8-85A2-6FCF7A6323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216288-DC6A-4B51-98E4-F668EF754F14}"/>
              </a:ext>
            </a:extLst>
          </p:cNvPr>
          <p:cNvSpPr>
            <a:spLocks noGrp="1"/>
          </p:cNvSpPr>
          <p:nvPr/>
        </p:nvSpPr>
        <p:spPr>
          <a:xfrm>
            <a:off x="514350" y="1131979"/>
            <a:ext cx="10827281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>
            <a:defPPr>
              <a:defRPr sz="2325"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>
              <a:buNone/>
              <a:defRPr sz="232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2325" b="1" dirty="0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Hardware Uncertainty Broadens the Preferred Control Depth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B41916-4315-458D-B663-0888B655C521}"/>
              </a:ext>
            </a:extLst>
          </p:cNvPr>
          <p:cNvSpPr>
            <a:spLocks noGrp="1"/>
          </p:cNvSpPr>
          <p:nvPr/>
        </p:nvSpPr>
        <p:spPr>
          <a:xfrm>
            <a:off x="514350" y="1696316"/>
            <a:ext cx="765377" cy="33692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D83BCD-EE52-459C-BEE4-DDCDE6E98317}"/>
              </a:ext>
            </a:extLst>
          </p:cNvPr>
          <p:cNvSpPr>
            <a:spLocks noGrp="1"/>
          </p:cNvSpPr>
          <p:nvPr/>
        </p:nvSpPr>
        <p:spPr>
          <a:xfrm>
            <a:off x="514350" y="1940581"/>
            <a:ext cx="8587154" cy="4211467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6F9A91F-89F4-4AEC-8505-677897BB6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14350" y="2583335"/>
            <a:ext cx="8587154" cy="2926043"/>
          </a:xfrm>
          <a:prstGeom prst="roundRect">
            <a:avLst>
              <a:gd name="adj" fmla="val 2400"/>
            </a:avLst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E3C81EA-FA3A-44F2-A1E9-3C69DFF2CD24}"/>
              </a:ext>
            </a:extLst>
          </p:cNvPr>
          <p:cNvSpPr>
            <a:spLocks noGrp="1"/>
          </p:cNvSpPr>
          <p:nvPr/>
        </p:nvSpPr>
        <p:spPr>
          <a:xfrm>
            <a:off x="9381520" y="1999542"/>
            <a:ext cx="2296130" cy="4059854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9525">
            <a:solidFill>
              <a:srgbClr val="D7DBE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A91A11-3A43-4334-A547-A7005C7C86F0}"/>
              </a:ext>
            </a:extLst>
          </p:cNvPr>
          <p:cNvSpPr>
            <a:spLocks noGrp="1"/>
          </p:cNvSpPr>
          <p:nvPr/>
        </p:nvSpPr>
        <p:spPr>
          <a:xfrm>
            <a:off x="9642868" y="2285921"/>
            <a:ext cx="1773434" cy="522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035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450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C31484-CE1B-47E5-B02C-3AD0B59BD646}"/>
              </a:ext>
            </a:extLst>
          </p:cNvPr>
          <p:cNvSpPr>
            <a:spLocks noGrp="1"/>
          </p:cNvSpPr>
          <p:nvPr/>
        </p:nvSpPr>
        <p:spPr>
          <a:xfrm>
            <a:off x="9642868" y="2833412"/>
            <a:ext cx="1773434" cy="286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751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calibration samples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3FB540-CBB9-43E0-87C7-8A10C3471ABC}"/>
              </a:ext>
            </a:extLst>
          </p:cNvPr>
          <p:cNvSpPr>
            <a:spLocks noGrp="1"/>
          </p:cNvSpPr>
          <p:nvPr/>
        </p:nvSpPr>
        <p:spPr>
          <a:xfrm>
            <a:off x="9642868" y="3364057"/>
            <a:ext cx="1717431" cy="8423"/>
          </a:xfrm>
          <a:prstGeom prst="rect">
            <a:avLst/>
          </a:prstGeom>
          <a:solidFill>
            <a:srgbClr val="D7DBE2"/>
          </a:solidFill>
          <a:ln w="0">
            <a:solidFill>
              <a:srgbClr val="D7DBE2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30A980-D8C2-48F0-92BD-D674BE780C1B}"/>
              </a:ext>
            </a:extLst>
          </p:cNvPr>
          <p:cNvSpPr>
            <a:spLocks noGrp="1"/>
          </p:cNvSpPr>
          <p:nvPr/>
        </p:nvSpPr>
        <p:spPr>
          <a:xfrm>
            <a:off x="9642868" y="3625168"/>
            <a:ext cx="1773434" cy="5053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226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150" b="1" i="0">
                <a:solidFill>
                  <a:srgbClr val="54A24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54A24B"/>
                </a:solidFill>
                <a:latin typeface="Arial"/>
                <a:ea typeface="Arial"/>
                <a:cs typeface="Arial"/>
              </a:rPr>
              <a:t>89%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2956A0-4F29-4298-98A0-0B561B02FA5B}"/>
              </a:ext>
            </a:extLst>
          </p:cNvPr>
          <p:cNvSpPr>
            <a:spLocks noGrp="1"/>
          </p:cNvSpPr>
          <p:nvPr/>
        </p:nvSpPr>
        <p:spPr>
          <a:xfrm>
            <a:off x="9642868" y="4181081"/>
            <a:ext cx="1773434" cy="3032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select N = 12–32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30197A-63AA-41C3-8A93-C2F08F10844D}"/>
              </a:ext>
            </a:extLst>
          </p:cNvPr>
          <p:cNvSpPr>
            <a:spLocks noGrp="1"/>
          </p:cNvSpPr>
          <p:nvPr/>
        </p:nvSpPr>
        <p:spPr>
          <a:xfrm>
            <a:off x="9642868" y="4703303"/>
            <a:ext cx="1717431" cy="8423"/>
          </a:xfrm>
          <a:prstGeom prst="rect">
            <a:avLst/>
          </a:prstGeom>
          <a:solidFill>
            <a:srgbClr val="D7DBE2"/>
          </a:solidFill>
          <a:ln w="0">
            <a:solidFill>
              <a:srgbClr val="D7DB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1F5A4F-F324-4955-8163-8328DC5E5DD9}"/>
              </a:ext>
            </a:extLst>
          </p:cNvPr>
          <p:cNvSpPr>
            <a:spLocks noGrp="1"/>
          </p:cNvSpPr>
          <p:nvPr/>
        </p:nvSpPr>
        <p:spPr>
          <a:xfrm>
            <a:off x="9642868" y="4981260"/>
            <a:ext cx="1773434" cy="2526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171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269ADE-0671-44CB-ABAA-760346390A57}"/>
              </a:ext>
            </a:extLst>
          </p:cNvPr>
          <p:cNvSpPr>
            <a:spLocks noGrp="1"/>
          </p:cNvSpPr>
          <p:nvPr/>
        </p:nvSpPr>
        <p:spPr>
          <a:xfrm>
            <a:off x="9642868" y="5284486"/>
            <a:ext cx="1773434" cy="353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139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1" i="0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58518"/>
                </a:solidFill>
                <a:latin typeface="Arial"/>
                <a:ea typeface="Arial"/>
                <a:cs typeface="Arial"/>
              </a:rPr>
              <a:t>N=16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EF591C-6824-4D3C-9006-6FD793C49CC8}"/>
              </a:ext>
            </a:extLst>
          </p:cNvPr>
          <p:cNvSpPr>
            <a:spLocks noGrp="1"/>
          </p:cNvSpPr>
          <p:nvPr/>
        </p:nvSpPr>
        <p:spPr>
          <a:xfrm>
            <a:off x="9642868" y="5688787"/>
            <a:ext cx="1773434" cy="2358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96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22.5% of samples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E60B9-4844-AEDB-F978-097BD9523580}"/>
              </a:ext>
            </a:extLst>
          </p:cNvPr>
          <p:cNvSpPr>
            <a:spLocks noGrp="1"/>
          </p:cNvSpPr>
          <p:nvPr/>
        </p:nvSpPr>
        <p:spPr>
          <a:xfrm>
            <a:off x="842809" y="5579625"/>
            <a:ext cx="90503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Uncertainty broadens the preferred depth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D37B9C-D453-4475-89D0-15A32A8CB2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51B556-9FD8-48A9-A9E0-FDE503A51ABB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2BB186-3C78-4324-A283-A489BADFFBA3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CCB6D6-C2CD-4039-8106-447DA7D47FD7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BB7CE37-AF3B-459D-8FC7-48C204216D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611E517-FF36-48B5-A802-F7AE1A2E017D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D8463A-4610-4A79-8B5B-91C21A79EC58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B4B3E6-3ABE-4480-B888-42B7A7FAD03A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87381C-B562-4BE0-9B1E-1232EE9500D2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11</a:t>
            </a:r>
          </a:p>
        </p:txBody>
      </p:sp>
    </p:spTree>
    <p:extLst>
      <p:ext uri="{BB962C8B-B14F-4D97-AF65-F5344CB8AC3E}">
        <p14:creationId xmlns:p14="http://schemas.microsoft.com/office/powerpoint/2010/main" val="1925706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E5556D4F-0F31-41CB-8055-92A260E69F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BE373FF-748E-4C99-A696-62BA755E3FC1}"/>
              </a:ext>
            </a:extLst>
          </p:cNvPr>
          <p:cNvSpPr>
            <a:spLocks noGrp="1"/>
          </p:cNvSpPr>
          <p:nvPr/>
        </p:nvSpPr>
        <p:spPr>
          <a:xfrm>
            <a:off x="514350" y="1131979"/>
            <a:ext cx="10827281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>
            <a:defPPr>
              <a:defRPr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>
              <a:buNone/>
              <a:def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2925" b="1" dirty="0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N = 20 Is the Most Robust Fixed Choice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E1EA9D-6097-4673-935B-47E0C30CD33A}"/>
              </a:ext>
            </a:extLst>
          </p:cNvPr>
          <p:cNvSpPr>
            <a:spLocks noGrp="1"/>
          </p:cNvSpPr>
          <p:nvPr/>
        </p:nvSpPr>
        <p:spPr>
          <a:xfrm>
            <a:off x="514350" y="1696316"/>
            <a:ext cx="765377" cy="33692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537E190-8383-4DD7-9A48-8C505806BDAB}"/>
              </a:ext>
            </a:extLst>
          </p:cNvPr>
          <p:cNvSpPr>
            <a:spLocks noGrp="1"/>
          </p:cNvSpPr>
          <p:nvPr/>
        </p:nvSpPr>
        <p:spPr>
          <a:xfrm>
            <a:off x="514350" y="1940581"/>
            <a:ext cx="8587154" cy="4211467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FD457DF-BFC2-41B3-8D8B-2DA96E2FC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14350" y="2606498"/>
            <a:ext cx="8587154" cy="2879548"/>
          </a:xfrm>
          <a:prstGeom prst="roundRect">
            <a:avLst>
              <a:gd name="adj" fmla="val 2400"/>
            </a:avLst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BC95D8-7E4D-4D90-A69A-C67C859CF2CF}"/>
              </a:ext>
            </a:extLst>
          </p:cNvPr>
          <p:cNvSpPr>
            <a:spLocks noGrp="1"/>
          </p:cNvSpPr>
          <p:nvPr/>
        </p:nvSpPr>
        <p:spPr>
          <a:xfrm>
            <a:off x="9381520" y="1999542"/>
            <a:ext cx="2296130" cy="4059854"/>
          </a:xfrm>
          <a:prstGeom prst="roundRect">
            <a:avLst>
              <a:gd name="adj" fmla="val 4878"/>
            </a:avLst>
          </a:prstGeom>
          <a:solidFill>
            <a:srgbClr val="EAF5FB"/>
          </a:solidFill>
          <a:ln w="9525">
            <a:solidFill>
              <a:srgbClr val="D7DBE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BB5207-FA49-4B08-A642-872C90C68820}"/>
              </a:ext>
            </a:extLst>
          </p:cNvPr>
          <p:cNvSpPr>
            <a:spLocks noGrp="1"/>
          </p:cNvSpPr>
          <p:nvPr/>
        </p:nvSpPr>
        <p:spPr>
          <a:xfrm>
            <a:off x="9642868" y="2226961"/>
            <a:ext cx="1773434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786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975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ALL THREE CRITERIA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AB4E63-4BF2-4215-83E1-9DC31A6FB4A6}"/>
              </a:ext>
            </a:extLst>
          </p:cNvPr>
          <p:cNvSpPr>
            <a:spLocks noGrp="1"/>
          </p:cNvSpPr>
          <p:nvPr/>
        </p:nvSpPr>
        <p:spPr>
          <a:xfrm>
            <a:off x="9642868" y="2673376"/>
            <a:ext cx="1773434" cy="4885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853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 = 20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F1E24-E6F6-4C67-9F31-F91528C78165}"/>
              </a:ext>
            </a:extLst>
          </p:cNvPr>
          <p:cNvSpPr>
            <a:spLocks noGrp="1"/>
          </p:cNvSpPr>
          <p:nvPr/>
        </p:nvSpPr>
        <p:spPr>
          <a:xfrm>
            <a:off x="9642868" y="3204021"/>
            <a:ext cx="1773434" cy="3032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222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650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τ = 1.25 μs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28A9EE-E686-4251-924F-41A9AEBC6314}"/>
              </a:ext>
            </a:extLst>
          </p:cNvPr>
          <p:cNvSpPr>
            <a:spLocks noGrp="1"/>
          </p:cNvSpPr>
          <p:nvPr/>
        </p:nvSpPr>
        <p:spPr>
          <a:xfrm>
            <a:off x="9642868" y="3793626"/>
            <a:ext cx="1717431" cy="8423"/>
          </a:xfrm>
          <a:prstGeom prst="rect">
            <a:avLst/>
          </a:prstGeom>
          <a:solidFill>
            <a:srgbClr val="D7DBE2"/>
          </a:solidFill>
          <a:ln w="0">
            <a:solidFill>
              <a:srgbClr val="D7DBE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F6AF4C-B5EC-4434-BBAF-B0D48CD747A1}"/>
              </a:ext>
            </a:extLst>
          </p:cNvPr>
          <p:cNvSpPr>
            <a:spLocks noGrp="1"/>
          </p:cNvSpPr>
          <p:nvPr/>
        </p:nvSpPr>
        <p:spPr>
          <a:xfrm>
            <a:off x="9642868" y="4054737"/>
            <a:ext cx="1773434" cy="2526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083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Nominal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D17B7A-A38F-4F67-97C8-5E062EBDD7B5}"/>
              </a:ext>
            </a:extLst>
          </p:cNvPr>
          <p:cNvSpPr>
            <a:spLocks noGrp="1"/>
          </p:cNvSpPr>
          <p:nvPr/>
        </p:nvSpPr>
        <p:spPr>
          <a:xfrm>
            <a:off x="9642868" y="4459038"/>
            <a:ext cx="1773434" cy="3874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753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95th-percentile regret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BD701-D40D-4763-AB46-C6BD788C1943}"/>
              </a:ext>
            </a:extLst>
          </p:cNvPr>
          <p:cNvSpPr>
            <a:spLocks noGrp="1"/>
          </p:cNvSpPr>
          <p:nvPr/>
        </p:nvSpPr>
        <p:spPr>
          <a:xfrm>
            <a:off x="9642868" y="4998106"/>
            <a:ext cx="1773434" cy="3874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053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Minimum mean regret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2F9CA7-F3E2-49D6-AFE2-3D21726AEABF}"/>
              </a:ext>
            </a:extLst>
          </p:cNvPr>
          <p:cNvSpPr>
            <a:spLocks noGrp="1"/>
          </p:cNvSpPr>
          <p:nvPr/>
        </p:nvSpPr>
        <p:spPr>
          <a:xfrm>
            <a:off x="9642868" y="5671941"/>
            <a:ext cx="1773434" cy="2358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96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p95 regret = 1.154×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446821-65D8-4F96-90A0-128BFA3619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E36F53-4482-4429-8FFC-46C89A800516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B39F91-28A5-4F88-9721-BE0E56D6FB0A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FC2A87-7EA6-4D9F-8DB3-F4DC4716CE85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2542863-493A-4467-97D5-FCCA1E1864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9E8C19C-BAE2-40C9-B863-A0ECE74EDE7B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5C8909-27BB-4DB5-9BC7-D86E1C58444A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838D8B-1D7D-4014-9958-1A5A3774CF09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9693BC-5D04-4FEC-990C-8027E9191D9A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12</a:t>
            </a:r>
          </a:p>
        </p:txBody>
      </p:sp>
    </p:spTree>
    <p:extLst>
      <p:ext uri="{BB962C8B-B14F-4D97-AF65-F5344CB8AC3E}">
        <p14:creationId xmlns:p14="http://schemas.microsoft.com/office/powerpoint/2010/main" val="67703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3CF06140-350B-4C15-ABC2-8678A95132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B9819BA-3823-4A46-903F-43A2561A68DB}"/>
              </a:ext>
            </a:extLst>
          </p:cNvPr>
          <p:cNvSpPr>
            <a:spLocks noGrp="1"/>
          </p:cNvSpPr>
          <p:nvPr/>
        </p:nvSpPr>
        <p:spPr>
          <a:xfrm>
            <a:off x="514350" y="1131979"/>
            <a:ext cx="10827281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>
            <a:defPPr>
              <a:defRPr sz="2325"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>
              <a:buNone/>
              <a:defRPr sz="232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2325" b="1" dirty="0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Measured Hardware Quality Selects the Control Depth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37B0F1-6CDE-4E6A-AF7D-C763A862E21C}"/>
              </a:ext>
            </a:extLst>
          </p:cNvPr>
          <p:cNvSpPr>
            <a:spLocks noGrp="1"/>
          </p:cNvSpPr>
          <p:nvPr/>
        </p:nvSpPr>
        <p:spPr>
          <a:xfrm>
            <a:off x="514350" y="1696316"/>
            <a:ext cx="765377" cy="33692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361A2E-9498-4AAA-AE5B-8689CE8650DA}"/>
              </a:ext>
            </a:extLst>
          </p:cNvPr>
          <p:cNvSpPr>
            <a:spLocks noGrp="1"/>
          </p:cNvSpPr>
          <p:nvPr/>
        </p:nvSpPr>
        <p:spPr>
          <a:xfrm>
            <a:off x="514350" y="1940581"/>
            <a:ext cx="7840445" cy="4211467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7DBE2"/>
            </a:solidFill>
            <a:prstDash val="solid"/>
          </a:ln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53FD1CE-ED78-4AE5-8F9D-858290A8B4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8740" y="1940581"/>
            <a:ext cx="7251758" cy="4211467"/>
          </a:xfrm>
          <a:prstGeom prst="roundRect">
            <a:avLst>
              <a:gd name="adj" fmla="val 2400"/>
            </a:avLst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0C279F7-8602-4475-A64F-D355A78796F2}"/>
              </a:ext>
            </a:extLst>
          </p:cNvPr>
          <p:cNvSpPr>
            <a:spLocks noGrp="1"/>
          </p:cNvSpPr>
          <p:nvPr/>
        </p:nvSpPr>
        <p:spPr>
          <a:xfrm>
            <a:off x="8634811" y="1940581"/>
            <a:ext cx="3042839" cy="4211467"/>
          </a:xfrm>
          <a:prstGeom prst="roundRect">
            <a:avLst>
              <a:gd name="adj" fmla="val 3681"/>
            </a:avLst>
          </a:prstGeom>
          <a:solidFill>
            <a:srgbClr val="F7F8FA"/>
          </a:solidFill>
          <a:ln w="9525">
            <a:solidFill>
              <a:srgbClr val="D7DBE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D9B40F-F584-4B93-868B-B4CEA28EA16A}"/>
              </a:ext>
            </a:extLst>
          </p:cNvPr>
          <p:cNvSpPr>
            <a:spLocks noGrp="1"/>
          </p:cNvSpPr>
          <p:nvPr/>
        </p:nvSpPr>
        <p:spPr>
          <a:xfrm>
            <a:off x="8914827" y="2184846"/>
            <a:ext cx="2482808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786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975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DECISION RULE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4CDDD1-1C7C-470F-8DFB-B0745F9D10E3}"/>
              </a:ext>
            </a:extLst>
          </p:cNvPr>
          <p:cNvSpPr>
            <a:spLocks noGrp="1"/>
          </p:cNvSpPr>
          <p:nvPr/>
        </p:nvSpPr>
        <p:spPr>
          <a:xfrm>
            <a:off x="8914827" y="2538609"/>
            <a:ext cx="2482808" cy="4211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051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3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(f, Fπ, T₂)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23A80E-686A-448C-ABC6-70252CF89775}"/>
              </a:ext>
            </a:extLst>
          </p:cNvPr>
          <p:cNvSpPr>
            <a:spLocks noGrp="1"/>
          </p:cNvSpPr>
          <p:nvPr/>
        </p:nvSpPr>
        <p:spPr>
          <a:xfrm>
            <a:off x="8914827" y="2976602"/>
            <a:ext cx="2482808" cy="3200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39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1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5BC47-BCB1-4862-AA8C-F8C522CE1DFB}"/>
              </a:ext>
            </a:extLst>
          </p:cNvPr>
          <p:cNvSpPr>
            <a:spLocks noGrp="1"/>
          </p:cNvSpPr>
          <p:nvPr/>
        </p:nvSpPr>
        <p:spPr>
          <a:xfrm>
            <a:off x="8784153" y="3338788"/>
            <a:ext cx="2744156" cy="4043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(τ, N, 10% window)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86272-6CCE-46AA-99A8-5ACACB36A225}"/>
              </a:ext>
            </a:extLst>
          </p:cNvPr>
          <p:cNvSpPr>
            <a:spLocks noGrp="1"/>
          </p:cNvSpPr>
          <p:nvPr/>
        </p:nvSpPr>
        <p:spPr>
          <a:xfrm>
            <a:off x="8914827" y="4012623"/>
            <a:ext cx="2482808" cy="8423"/>
          </a:xfrm>
          <a:prstGeom prst="rect">
            <a:avLst/>
          </a:prstGeom>
          <a:solidFill>
            <a:srgbClr val="D7DBE2"/>
          </a:solidFill>
          <a:ln w="0">
            <a:solidFill>
              <a:srgbClr val="D7DBE2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8A617E-D3D4-40B7-AEC5-C9FA091C2676}"/>
              </a:ext>
            </a:extLst>
          </p:cNvPr>
          <p:cNvSpPr>
            <a:spLocks noGrp="1"/>
          </p:cNvSpPr>
          <p:nvPr/>
        </p:nvSpPr>
        <p:spPr>
          <a:xfrm>
            <a:off x="8914827" y="4248465"/>
            <a:ext cx="2482808" cy="2526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500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Nominal hardware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3E0E67-AA7C-4B46-BC1D-5C9DB4376B3C}"/>
              </a:ext>
            </a:extLst>
          </p:cNvPr>
          <p:cNvSpPr>
            <a:spLocks noGrp="1"/>
          </p:cNvSpPr>
          <p:nvPr/>
        </p:nvSpPr>
        <p:spPr>
          <a:xfrm>
            <a:off x="8914827" y="4619074"/>
            <a:ext cx="2482808" cy="11118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4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τ = 1.25 μs</a:t>
            </a:r>
          </a:p>
          <a:p>
            <a:pPr algn="l">
              <a:buNone/>
              <a:defRPr sz="14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 = 20  ·  160 π pulses</a:t>
            </a:r>
          </a:p>
          <a:p>
            <a:pPr algn="l">
              <a:buNone/>
              <a:defRPr sz="14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window N = 10–34</a:t>
            </a:r>
          </a:p>
          <a:p>
            <a:pPr algn="l">
              <a:buNone/>
              <a:defRPr sz="14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Pareto option N = 16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891F5E-9434-4E2C-A6FD-2EE9EE7A09A7}"/>
              </a:ext>
            </a:extLst>
          </p:cNvPr>
          <p:cNvSpPr>
            <a:spLocks noGrp="1"/>
          </p:cNvSpPr>
          <p:nvPr/>
        </p:nvSpPr>
        <p:spPr>
          <a:xfrm>
            <a:off x="8914827" y="5789862"/>
            <a:ext cx="2482808" cy="286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959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9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Caveat: contrast, photon rate, overhead and other coherence parameters are held nominal.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C03DC9-9479-43CB-AD6B-7AB1390296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7563A2-9889-4567-8E0D-74CB0BA0D79E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DC8AE1-C71B-40E4-9565-7C4573FD118F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530810-1FC4-4327-92D6-20CC2DC55E5D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149E1CC-0175-47BE-92D1-58E3A28025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14169FB-C04C-465D-8A9C-0939D3CA850D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4D3417-4198-4361-80B3-B3DA63146FB1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4F98FD-4DC7-434D-9469-24189142DE6C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94BF78-E715-4580-ADE8-B6850644E539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13</a:t>
            </a:r>
          </a:p>
        </p:txBody>
      </p:sp>
    </p:spTree>
    <p:extLst>
      <p:ext uri="{BB962C8B-B14F-4D97-AF65-F5344CB8AC3E}">
        <p14:creationId xmlns:p14="http://schemas.microsoft.com/office/powerpoint/2010/main" val="654417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55253330-946E-439F-B091-19A98221CE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E2B5442-579F-4EFD-BCFF-3EC337EB5044}"/>
              </a:ext>
            </a:extLst>
          </p:cNvPr>
          <p:cNvSpPr>
            <a:spLocks noGrp="1"/>
          </p:cNvSpPr>
          <p:nvPr/>
        </p:nvSpPr>
        <p:spPr>
          <a:xfrm>
            <a:off x="514350" y="1131979"/>
            <a:ext cx="10827281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>
            <a:defPPr>
              <a:defRPr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 algn="l">
              <a:buNone/>
              <a:defRPr sz="292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2925" b="1" i="0" dirty="0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Seven measurements can test the predicted EDT window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B94131-9BE1-4B3F-AC5B-EFC95EC4BFC0}"/>
              </a:ext>
            </a:extLst>
          </p:cNvPr>
          <p:cNvSpPr>
            <a:spLocks noGrp="1"/>
          </p:cNvSpPr>
          <p:nvPr/>
        </p:nvSpPr>
        <p:spPr>
          <a:xfrm>
            <a:off x="514350" y="1696316"/>
            <a:ext cx="765377" cy="33692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01F0E18-FA6C-4582-A4E8-923618CEA2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4350" y="2482176"/>
            <a:ext cx="8587154" cy="3128278"/>
          </a:xfrm>
          <a:prstGeom prst="roundRect">
            <a:avLst>
              <a:gd name="adj" fmla="val 2400"/>
            </a:avLst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F59BF5C-E740-4626-9F88-1BF509F09AA9}"/>
              </a:ext>
            </a:extLst>
          </p:cNvPr>
          <p:cNvSpPr>
            <a:spLocks noGrp="1"/>
          </p:cNvSpPr>
          <p:nvPr/>
        </p:nvSpPr>
        <p:spPr>
          <a:xfrm>
            <a:off x="9381520" y="1999542"/>
            <a:ext cx="2296130" cy="4059854"/>
          </a:xfrm>
          <a:prstGeom prst="roundRect">
            <a:avLst>
              <a:gd name="adj" fmla="val 4878"/>
            </a:avLst>
          </a:prstGeom>
          <a:solidFill>
            <a:srgbClr val="F7F8FA"/>
          </a:solidFill>
          <a:ln w="9525">
            <a:solidFill>
              <a:srgbClr val="D7DBE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571BFB-CDFF-484A-9DFE-3A5161E0B7D1}"/>
              </a:ext>
            </a:extLst>
          </p:cNvPr>
          <p:cNvSpPr>
            <a:spLocks noGrp="1"/>
          </p:cNvSpPr>
          <p:nvPr/>
        </p:nvSpPr>
        <p:spPr>
          <a:xfrm>
            <a:off x="9642868" y="2226961"/>
            <a:ext cx="1773434" cy="20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786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975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FALSIFIABLE TESTS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9C93E8-EB00-4BE9-AC20-A57421469DFA}"/>
              </a:ext>
            </a:extLst>
          </p:cNvPr>
          <p:cNvSpPr>
            <a:spLocks noGrp="1"/>
          </p:cNvSpPr>
          <p:nvPr/>
        </p:nvSpPr>
        <p:spPr>
          <a:xfrm>
            <a:off x="9642868" y="2605993"/>
            <a:ext cx="242680" cy="218996"/>
          </a:xfrm>
          <a:prstGeom prst="ellipse">
            <a:avLst/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1E1CF1-3054-4368-8250-ED3742924B0C}"/>
              </a:ext>
            </a:extLst>
          </p:cNvPr>
          <p:cNvSpPr>
            <a:spLocks noGrp="1"/>
          </p:cNvSpPr>
          <p:nvPr/>
        </p:nvSpPr>
        <p:spPr>
          <a:xfrm>
            <a:off x="9642868" y="2622839"/>
            <a:ext cx="242680" cy="185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189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975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D425F8-A724-49BE-9872-29BE3FB871FF}"/>
              </a:ext>
            </a:extLst>
          </p:cNvPr>
          <p:cNvSpPr>
            <a:spLocks noGrp="1"/>
          </p:cNvSpPr>
          <p:nvPr/>
        </p:nvSpPr>
        <p:spPr>
          <a:xfrm>
            <a:off x="9997555" y="2563878"/>
            <a:ext cx="1437415" cy="4295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297" lnSpcReduction="2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N=16 and N=20 are tied or ordered as predicted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51D3EC8-2C35-42BE-B2B1-7E552F4187FD}"/>
              </a:ext>
            </a:extLst>
          </p:cNvPr>
          <p:cNvSpPr>
            <a:spLocks noGrp="1"/>
          </p:cNvSpPr>
          <p:nvPr/>
        </p:nvSpPr>
        <p:spPr>
          <a:xfrm>
            <a:off x="9642868" y="3220867"/>
            <a:ext cx="242680" cy="218996"/>
          </a:xfrm>
          <a:prstGeom prst="ellipse">
            <a:avLst/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B6EA8C-AD86-4044-9AF4-E8C76CE41B58}"/>
              </a:ext>
            </a:extLst>
          </p:cNvPr>
          <p:cNvSpPr>
            <a:spLocks noGrp="1"/>
          </p:cNvSpPr>
          <p:nvPr/>
        </p:nvSpPr>
        <p:spPr>
          <a:xfrm>
            <a:off x="9642868" y="3237713"/>
            <a:ext cx="242680" cy="185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189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975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CBEC18-1BAB-4131-9918-E4A818BB98B3}"/>
              </a:ext>
            </a:extLst>
          </p:cNvPr>
          <p:cNvSpPr>
            <a:spLocks noGrp="1"/>
          </p:cNvSpPr>
          <p:nvPr/>
        </p:nvSpPr>
        <p:spPr>
          <a:xfrm>
            <a:off x="9997555" y="3178752"/>
            <a:ext cx="1437415" cy="4295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174" lnSpcReduction="2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N=8 and N=64 are worse than interior controls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CDC2F1D-4E62-498B-BF7C-04AFF986B417}"/>
              </a:ext>
            </a:extLst>
          </p:cNvPr>
          <p:cNvSpPr>
            <a:spLocks noGrp="1"/>
          </p:cNvSpPr>
          <p:nvPr/>
        </p:nvSpPr>
        <p:spPr>
          <a:xfrm>
            <a:off x="9642868" y="3835741"/>
            <a:ext cx="242680" cy="218996"/>
          </a:xfrm>
          <a:prstGeom prst="ellipse">
            <a:avLst/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6F3901-4DEC-4A2C-8706-0E2C4F8080C5}"/>
              </a:ext>
            </a:extLst>
          </p:cNvPr>
          <p:cNvSpPr>
            <a:spLocks noGrp="1"/>
          </p:cNvSpPr>
          <p:nvPr/>
        </p:nvSpPr>
        <p:spPr>
          <a:xfrm>
            <a:off x="9642868" y="3852587"/>
            <a:ext cx="242680" cy="185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189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975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619FF0-71D6-4824-90CC-379AC332FB64}"/>
              </a:ext>
            </a:extLst>
          </p:cNvPr>
          <p:cNvSpPr>
            <a:spLocks noGrp="1"/>
          </p:cNvSpPr>
          <p:nvPr/>
        </p:nvSpPr>
        <p:spPr>
          <a:xfrm>
            <a:off x="9997555" y="3793626"/>
            <a:ext cx="1437415" cy="4295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09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Measured optimum lies within N=10–34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5271944-4C2D-40CA-B0DC-1E9A3DBB6926}"/>
              </a:ext>
            </a:extLst>
          </p:cNvPr>
          <p:cNvSpPr>
            <a:spLocks noGrp="1"/>
          </p:cNvSpPr>
          <p:nvPr/>
        </p:nvSpPr>
        <p:spPr>
          <a:xfrm>
            <a:off x="9642868" y="4450615"/>
            <a:ext cx="242680" cy="218996"/>
          </a:xfrm>
          <a:prstGeom prst="ellipse">
            <a:avLst/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9465F8-ABFF-4177-8943-FAC42E446657}"/>
              </a:ext>
            </a:extLst>
          </p:cNvPr>
          <p:cNvSpPr>
            <a:spLocks noGrp="1"/>
          </p:cNvSpPr>
          <p:nvPr/>
        </p:nvSpPr>
        <p:spPr>
          <a:xfrm>
            <a:off x="9642868" y="4467461"/>
            <a:ext cx="242680" cy="185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189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975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3275C6-90B0-4515-AC64-5624305C08E8}"/>
              </a:ext>
            </a:extLst>
          </p:cNvPr>
          <p:cNvSpPr>
            <a:spLocks noGrp="1"/>
          </p:cNvSpPr>
          <p:nvPr/>
        </p:nvSpPr>
        <p:spPr>
          <a:xfrm>
            <a:off x="9997555" y="4408501"/>
            <a:ext cx="1437415" cy="4295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91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Off-resonance is worse than resonance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A3B033F-389D-4B38-9446-4203739F4C89}"/>
              </a:ext>
            </a:extLst>
          </p:cNvPr>
          <p:cNvSpPr>
            <a:spLocks noGrp="1"/>
          </p:cNvSpPr>
          <p:nvPr/>
        </p:nvSpPr>
        <p:spPr>
          <a:xfrm>
            <a:off x="9642868" y="5065489"/>
            <a:ext cx="242680" cy="218996"/>
          </a:xfrm>
          <a:prstGeom prst="ellipse">
            <a:avLst/>
          </a:prstGeom>
          <a:solidFill>
            <a:srgbClr val="F2F2F2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D357B9-E2ED-4414-9B2C-A69333E660AD}"/>
              </a:ext>
            </a:extLst>
          </p:cNvPr>
          <p:cNvSpPr>
            <a:spLocks noGrp="1"/>
          </p:cNvSpPr>
          <p:nvPr/>
        </p:nvSpPr>
        <p:spPr>
          <a:xfrm>
            <a:off x="9642868" y="5082335"/>
            <a:ext cx="242680" cy="185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189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975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908C04-327B-47AD-80F0-8D390937F617}"/>
              </a:ext>
            </a:extLst>
          </p:cNvPr>
          <p:cNvSpPr>
            <a:spLocks noGrp="1"/>
          </p:cNvSpPr>
          <p:nvPr/>
        </p:nvSpPr>
        <p:spPr>
          <a:xfrm>
            <a:off x="9997555" y="5023375"/>
            <a:ext cx="1437415" cy="4295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09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Values fall within model intervals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B8718A-1F82-44F1-97BD-149445C9AB04}"/>
              </a:ext>
            </a:extLst>
          </p:cNvPr>
          <p:cNvSpPr>
            <a:spLocks noGrp="1"/>
          </p:cNvSpPr>
          <p:nvPr/>
        </p:nvSpPr>
        <p:spPr>
          <a:xfrm>
            <a:off x="9642868" y="5756170"/>
            <a:ext cx="1773434" cy="3200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82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975" b="0" i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5B6472"/>
                </a:solidFill>
                <a:latin typeface="Arial"/>
                <a:ea typeface="Arial"/>
                <a:cs typeface="Arial"/>
              </a:rPr>
              <a:t>Prediction table generated before measurements are entered.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189E84-3364-420A-AD50-1C242704D1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4AB4B50-B71E-49F0-ADE3-F5D7071A3A82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3843258-0439-4F29-AB2F-8B82566F571D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8E067A-6400-49B9-8E2B-1AA81DF7E906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4DD6FFC-B3EA-4B45-B40C-D2426E8F8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7961151E-FDCD-4E78-BD4C-8F47B5F64515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6C1536-FFC3-4513-8E3D-299A14E42CF9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B9761CB-5F2A-4614-AE29-F017A31A4A16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07CBAFE-89E9-4098-892D-E0F6A79A0C86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14</a:t>
            </a:r>
          </a:p>
        </p:txBody>
      </p:sp>
    </p:spTree>
    <p:extLst>
      <p:ext uri="{BB962C8B-B14F-4D97-AF65-F5344CB8AC3E}">
        <p14:creationId xmlns:p14="http://schemas.microsoft.com/office/powerpoint/2010/main" val="1994387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E797CCBD-431B-4366-BACE-45066CA109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20189F8-B6AB-40AC-A4F0-3B650D566DEF}"/>
              </a:ext>
            </a:extLst>
          </p:cNvPr>
          <p:cNvSpPr>
            <a:spLocks noGrp="1"/>
          </p:cNvSpPr>
          <p:nvPr/>
        </p:nvSpPr>
        <p:spPr>
          <a:xfrm>
            <a:off x="514350" y="1131979"/>
            <a:ext cx="10827281" cy="572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 algn="l">
              <a:buNone/>
              <a:defRPr sz="2925"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2925" b="1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First-principles data connect material physics to control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CBC3C3-A951-4AEC-B0FA-C864A4594EAF}"/>
              </a:ext>
            </a:extLst>
          </p:cNvPr>
          <p:cNvSpPr>
            <a:spLocks noGrp="1"/>
          </p:cNvSpPr>
          <p:nvPr/>
        </p:nvSpPr>
        <p:spPr>
          <a:xfrm>
            <a:off x="514350" y="1696316"/>
            <a:ext cx="765377" cy="33692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4B2A91-0BCC-4E21-ADE0-E0B25D4AE538}"/>
              </a:ext>
            </a:extLst>
          </p:cNvPr>
          <p:cNvSpPr>
            <a:spLocks noGrp="1"/>
          </p:cNvSpPr>
          <p:nvPr/>
        </p:nvSpPr>
        <p:spPr>
          <a:xfrm>
            <a:off x="514350" y="1940581"/>
            <a:ext cx="10827281" cy="48853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931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75" b="0">
                <a:solidFill>
                  <a:srgbClr val="3036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03640"/>
                </a:solidFill>
                <a:latin typeface="Arial"/>
                <a:ea typeface="Arial"/>
                <a:cs typeface="Arial"/>
              </a:rPr>
              <a:t>The diamond host is fixed, but temperature and strain change the NV transition and relaxation rates used by the control model.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1360B86-8A12-4FD9-8F74-85B81639772A}"/>
              </a:ext>
            </a:extLst>
          </p:cNvPr>
          <p:cNvSpPr>
            <a:spLocks noGrp="1"/>
          </p:cNvSpPr>
          <p:nvPr/>
        </p:nvSpPr>
        <p:spPr>
          <a:xfrm>
            <a:off x="514350" y="2732337"/>
            <a:ext cx="3322855" cy="2122579"/>
          </a:xfrm>
          <a:prstGeom prst="roundRect">
            <a:avLst>
              <a:gd name="adj" fmla="val 5952"/>
            </a:avLst>
          </a:prstGeom>
          <a:solidFill>
            <a:srgbClr val="F2F2F2"/>
          </a:solidFill>
          <a:ln w="9525">
            <a:solidFill>
              <a:srgbClr val="F2F2F2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0065B8-30F7-47EE-A96E-CD656E05B7CC}"/>
              </a:ext>
            </a:extLst>
          </p:cNvPr>
          <p:cNvSpPr>
            <a:spLocks noGrp="1"/>
          </p:cNvSpPr>
          <p:nvPr/>
        </p:nvSpPr>
        <p:spPr>
          <a:xfrm>
            <a:off x="514350" y="2732337"/>
            <a:ext cx="3322855" cy="58961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EEDE9D-A699-4D6A-BC62-5DAC1D7E4B0A}"/>
              </a:ext>
            </a:extLst>
          </p:cNvPr>
          <p:cNvSpPr>
            <a:spLocks noGrp="1"/>
          </p:cNvSpPr>
          <p:nvPr/>
        </p:nvSpPr>
        <p:spPr>
          <a:xfrm>
            <a:off x="719695" y="3010294"/>
            <a:ext cx="2912165" cy="38745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93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Spin–strain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BBA3D1-E943-4B97-992C-9E86D466BE87}"/>
              </a:ext>
            </a:extLst>
          </p:cNvPr>
          <p:cNvSpPr>
            <a:spLocks noGrp="1"/>
          </p:cNvSpPr>
          <p:nvPr/>
        </p:nvSpPr>
        <p:spPr>
          <a:xfrm>
            <a:off x="719695" y="3448286"/>
            <a:ext cx="2912165" cy="30322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Udvarhelyi et al.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F06E9D-CC6C-4E43-BD9E-6B75564C255D}"/>
              </a:ext>
            </a:extLst>
          </p:cNvPr>
          <p:cNvSpPr>
            <a:spLocks noGrp="1"/>
          </p:cNvSpPr>
          <p:nvPr/>
        </p:nvSpPr>
        <p:spPr>
          <a:xfrm>
            <a:off x="719695" y="3886279"/>
            <a:ext cx="2912165" cy="74121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0">
                <a:solidFill>
                  <a:srgbClr val="30364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640"/>
                </a:solidFill>
                <a:latin typeface="Arial"/>
                <a:ea typeface="Arial"/>
                <a:cs typeface="Arial"/>
              </a:rPr>
              <a:t>Six DFT coefficients map axial, transverse and shear strain into the ground-state spin Hamiltonian.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E8AD477-7C4D-4D6F-915E-40EE4CEF26A6}"/>
              </a:ext>
            </a:extLst>
          </p:cNvPr>
          <p:cNvSpPr>
            <a:spLocks noGrp="1"/>
          </p:cNvSpPr>
          <p:nvPr/>
        </p:nvSpPr>
        <p:spPr>
          <a:xfrm>
            <a:off x="4434572" y="2732337"/>
            <a:ext cx="3322855" cy="2122579"/>
          </a:xfrm>
          <a:prstGeom prst="roundRect">
            <a:avLst>
              <a:gd name="adj" fmla="val 5952"/>
            </a:avLst>
          </a:prstGeom>
          <a:solidFill>
            <a:srgbClr val="F2F2F2"/>
          </a:solidFill>
          <a:ln w="9525">
            <a:solidFill>
              <a:srgbClr val="F2F2F2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8ED802-9E7A-48BC-B58F-F6571C40AED6}"/>
              </a:ext>
            </a:extLst>
          </p:cNvPr>
          <p:cNvSpPr>
            <a:spLocks noGrp="1"/>
          </p:cNvSpPr>
          <p:nvPr/>
        </p:nvSpPr>
        <p:spPr>
          <a:xfrm>
            <a:off x="4434572" y="2732337"/>
            <a:ext cx="3322855" cy="58961"/>
          </a:xfrm>
          <a:prstGeom prst="rect">
            <a:avLst/>
          </a:prstGeom>
          <a:solidFill>
            <a:srgbClr val="54A24B"/>
          </a:solidFill>
          <a:ln w="9525">
            <a:solidFill>
              <a:srgbClr val="54A24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49C442-0636-47D9-B9AA-6015C0624B45}"/>
              </a:ext>
            </a:extLst>
          </p:cNvPr>
          <p:cNvSpPr>
            <a:spLocks noGrp="1"/>
          </p:cNvSpPr>
          <p:nvPr/>
        </p:nvSpPr>
        <p:spPr>
          <a:xfrm>
            <a:off x="4639917" y="3010294"/>
            <a:ext cx="2912165" cy="38745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93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00" b="1">
                <a:solidFill>
                  <a:srgbClr val="54A2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4A24B"/>
                </a:solidFill>
                <a:latin typeface="Arial"/>
                <a:ea typeface="Arial"/>
                <a:cs typeface="Arial"/>
              </a:rPr>
              <a:t>Transition shift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70DBCF-3280-4D3E-A0FD-63E3B3790BE2}"/>
              </a:ext>
            </a:extLst>
          </p:cNvPr>
          <p:cNvSpPr>
            <a:spLocks noGrp="1"/>
          </p:cNvSpPr>
          <p:nvPr/>
        </p:nvSpPr>
        <p:spPr>
          <a:xfrm>
            <a:off x="4639917" y="3448286"/>
            <a:ext cx="2912165" cy="30322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Cambria + Tang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477FC0-94FB-440C-A4C5-58D29647C529}"/>
              </a:ext>
            </a:extLst>
          </p:cNvPr>
          <p:cNvSpPr>
            <a:spLocks noGrp="1"/>
          </p:cNvSpPr>
          <p:nvPr/>
        </p:nvSpPr>
        <p:spPr>
          <a:xfrm>
            <a:off x="4639917" y="3886279"/>
            <a:ext cx="2912165" cy="74121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238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0">
                <a:solidFill>
                  <a:srgbClr val="30364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640"/>
                </a:solidFill>
                <a:latin typeface="Arial"/>
                <a:ea typeface="Arial"/>
                <a:cs typeface="Arial"/>
              </a:rPr>
              <a:t>The analytical D(T) law supplies detuning. Tang’s first-principles slope, −75.99 kHz/K, provides an independent cross-check.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9E25C45-2D6A-4EA2-B5CA-C6A72522B0FA}"/>
              </a:ext>
            </a:extLst>
          </p:cNvPr>
          <p:cNvSpPr>
            <a:spLocks noGrp="1"/>
          </p:cNvSpPr>
          <p:nvPr/>
        </p:nvSpPr>
        <p:spPr>
          <a:xfrm>
            <a:off x="8354795" y="2732337"/>
            <a:ext cx="3322855" cy="2122579"/>
          </a:xfrm>
          <a:prstGeom prst="roundRect">
            <a:avLst>
              <a:gd name="adj" fmla="val 5952"/>
            </a:avLst>
          </a:prstGeom>
          <a:solidFill>
            <a:srgbClr val="F2F2F2"/>
          </a:solidFill>
          <a:ln w="9525">
            <a:solidFill>
              <a:srgbClr val="F2F2F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13B536-D250-46EC-9DEF-E4A5E9ECE747}"/>
              </a:ext>
            </a:extLst>
          </p:cNvPr>
          <p:cNvSpPr>
            <a:spLocks noGrp="1"/>
          </p:cNvSpPr>
          <p:nvPr/>
        </p:nvSpPr>
        <p:spPr>
          <a:xfrm>
            <a:off x="8354795" y="2732337"/>
            <a:ext cx="3322855" cy="58961"/>
          </a:xfrm>
          <a:prstGeom prst="rect">
            <a:avLst/>
          </a:prstGeom>
          <a:solidFill>
            <a:srgbClr val="F58518"/>
          </a:solidFill>
          <a:ln w="9525">
            <a:solidFill>
              <a:srgbClr val="F58518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CF8154-EDFC-497F-9B1A-1D0947662433}"/>
              </a:ext>
            </a:extLst>
          </p:cNvPr>
          <p:cNvSpPr>
            <a:spLocks noGrp="1"/>
          </p:cNvSpPr>
          <p:nvPr/>
        </p:nvSpPr>
        <p:spPr>
          <a:xfrm>
            <a:off x="8560140" y="3010294"/>
            <a:ext cx="2912165" cy="38745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12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00" b="1">
                <a:solidFill>
                  <a:srgbClr val="F585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8518"/>
                </a:solidFill>
                <a:latin typeface="Arial"/>
                <a:ea typeface="Arial"/>
                <a:cs typeface="Arial"/>
              </a:rPr>
              <a:t>Spin–phonon relaxation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99E323-32B0-4C44-A28D-3F8C10A0888D}"/>
              </a:ext>
            </a:extLst>
          </p:cNvPr>
          <p:cNvSpPr>
            <a:spLocks noGrp="1"/>
          </p:cNvSpPr>
          <p:nvPr/>
        </p:nvSpPr>
        <p:spPr>
          <a:xfrm>
            <a:off x="8560140" y="3448286"/>
            <a:ext cx="2912165" cy="30322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Mondal et al.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4549D7-629E-4A0C-91AD-8F91BC8A02FA}"/>
              </a:ext>
            </a:extLst>
          </p:cNvPr>
          <p:cNvSpPr>
            <a:spLocks noGrp="1"/>
          </p:cNvSpPr>
          <p:nvPr/>
        </p:nvSpPr>
        <p:spPr>
          <a:xfrm>
            <a:off x="8560140" y="3886279"/>
            <a:ext cx="2912165" cy="74121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826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0">
                <a:solidFill>
                  <a:srgbClr val="30364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640"/>
                </a:solidFill>
                <a:latin typeface="Arial"/>
                <a:ea typeface="Arial"/>
                <a:cs typeface="Arial"/>
              </a:rPr>
              <a:t>The ab initio T₁(T) curve constrains the temperature-dependent coherence correction without fitting the EDT optimum.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94A4D0F-9E27-4E0B-8019-9AFDC3B94FA0}"/>
              </a:ext>
            </a:extLst>
          </p:cNvPr>
          <p:cNvSpPr>
            <a:spLocks noGrp="1"/>
          </p:cNvSpPr>
          <p:nvPr/>
        </p:nvSpPr>
        <p:spPr>
          <a:xfrm>
            <a:off x="943708" y="5259217"/>
            <a:ext cx="1680095" cy="488530"/>
          </a:xfrm>
          <a:prstGeom prst="roundRect">
            <a:avLst>
              <a:gd name="adj" fmla="val 22414"/>
            </a:avLst>
          </a:prstGeom>
          <a:solidFill>
            <a:srgbClr val="EAF5FB"/>
          </a:solidFill>
          <a:ln w="9525">
            <a:solidFill>
              <a:srgbClr val="3D8DFF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217748-19B1-4FD3-8830-FDB5B7ACF25F}"/>
              </a:ext>
            </a:extLst>
          </p:cNvPr>
          <p:cNvSpPr>
            <a:spLocks noGrp="1"/>
          </p:cNvSpPr>
          <p:nvPr/>
        </p:nvSpPr>
        <p:spPr>
          <a:xfrm>
            <a:off x="1037046" y="5368715"/>
            <a:ext cx="1493418" cy="26953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921" lnSpcReduction="2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275" b="1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5D9B"/>
                </a:solidFill>
                <a:latin typeface="Arial"/>
                <a:ea typeface="Arial"/>
                <a:cs typeface="Arial"/>
              </a:rPr>
              <a:t>Temperature + strain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08A3675C-4564-4E93-B595-AB5D8BBFF987}"/>
              </a:ext>
            </a:extLst>
          </p:cNvPr>
          <p:cNvSpPr>
            <a:spLocks noGrp="1"/>
          </p:cNvSpPr>
          <p:nvPr/>
        </p:nvSpPr>
        <p:spPr>
          <a:xfrm>
            <a:off x="2735809" y="5410830"/>
            <a:ext cx="317351" cy="168459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</a:ln>
        </p:spPr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E7D148E-FB2E-48E7-8823-722B3ECF9DC9}"/>
              </a:ext>
            </a:extLst>
          </p:cNvPr>
          <p:cNvSpPr>
            <a:spLocks noGrp="1"/>
          </p:cNvSpPr>
          <p:nvPr/>
        </p:nvSpPr>
        <p:spPr>
          <a:xfrm>
            <a:off x="3165167" y="5259217"/>
            <a:ext cx="1848105" cy="488530"/>
          </a:xfrm>
          <a:prstGeom prst="roundRect">
            <a:avLst>
              <a:gd name="adj" fmla="val 22414"/>
            </a:avLst>
          </a:prstGeom>
          <a:solidFill>
            <a:srgbClr val="EAF5FB"/>
          </a:solidFill>
          <a:ln w="9525">
            <a:solidFill>
              <a:srgbClr val="3D8DF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810DAB-61D0-4647-9313-ECD875308AE7}"/>
              </a:ext>
            </a:extLst>
          </p:cNvPr>
          <p:cNvSpPr>
            <a:spLocks noGrp="1"/>
          </p:cNvSpPr>
          <p:nvPr/>
        </p:nvSpPr>
        <p:spPr>
          <a:xfrm>
            <a:off x="3258506" y="5368715"/>
            <a:ext cx="1661428" cy="26953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55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275" b="1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5D9B"/>
                </a:solidFill>
                <a:latin typeface="Arial"/>
                <a:ea typeface="Arial"/>
                <a:cs typeface="Arial"/>
              </a:rPr>
              <a:t>Detuning + T₁/T₂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49F7F02-2FAD-4816-9E1B-2D25CE940E29}"/>
              </a:ext>
            </a:extLst>
          </p:cNvPr>
          <p:cNvSpPr>
            <a:spLocks noGrp="1"/>
          </p:cNvSpPr>
          <p:nvPr/>
        </p:nvSpPr>
        <p:spPr>
          <a:xfrm>
            <a:off x="5125278" y="5410830"/>
            <a:ext cx="317351" cy="168459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</a:ln>
        </p:spPr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14C26C3-0CB7-4D8D-B05F-708E44E00A0D}"/>
              </a:ext>
            </a:extLst>
          </p:cNvPr>
          <p:cNvSpPr>
            <a:spLocks noGrp="1"/>
          </p:cNvSpPr>
          <p:nvPr/>
        </p:nvSpPr>
        <p:spPr>
          <a:xfrm>
            <a:off x="5554636" y="5259217"/>
            <a:ext cx="1624092" cy="488530"/>
          </a:xfrm>
          <a:prstGeom prst="roundRect">
            <a:avLst>
              <a:gd name="adj" fmla="val 22414"/>
            </a:avLst>
          </a:prstGeom>
          <a:solidFill>
            <a:srgbClr val="EAF5FB"/>
          </a:solidFill>
          <a:ln w="9525">
            <a:solidFill>
              <a:srgbClr val="3D8DFF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061A9E-543E-436A-B1E4-43D0FA5B3571}"/>
              </a:ext>
            </a:extLst>
          </p:cNvPr>
          <p:cNvSpPr>
            <a:spLocks noGrp="1"/>
          </p:cNvSpPr>
          <p:nvPr/>
        </p:nvSpPr>
        <p:spPr>
          <a:xfrm>
            <a:off x="5647975" y="5368715"/>
            <a:ext cx="1437415" cy="26953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55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275" b="1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5D9B"/>
                </a:solidFill>
                <a:latin typeface="Arial"/>
                <a:ea typeface="Arial"/>
                <a:cs typeface="Arial"/>
              </a:rPr>
              <a:t>η(τ,N)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1238609F-1637-4FD5-92DC-EB5A6EF4C22D}"/>
              </a:ext>
            </a:extLst>
          </p:cNvPr>
          <p:cNvSpPr>
            <a:spLocks noGrp="1"/>
          </p:cNvSpPr>
          <p:nvPr/>
        </p:nvSpPr>
        <p:spPr>
          <a:xfrm>
            <a:off x="7290734" y="5410830"/>
            <a:ext cx="317351" cy="168459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</a:ln>
        </p:spPr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753E7E3-A47A-4FA6-A28B-9A59C9260AE3}"/>
              </a:ext>
            </a:extLst>
          </p:cNvPr>
          <p:cNvSpPr>
            <a:spLocks noGrp="1"/>
          </p:cNvSpPr>
          <p:nvPr/>
        </p:nvSpPr>
        <p:spPr>
          <a:xfrm>
            <a:off x="7720092" y="5259217"/>
            <a:ext cx="2893497" cy="488530"/>
          </a:xfrm>
          <a:prstGeom prst="roundRect">
            <a:avLst>
              <a:gd name="adj" fmla="val 22414"/>
            </a:avLst>
          </a:prstGeom>
          <a:solidFill>
            <a:srgbClr val="EAF5FB"/>
          </a:solidFill>
          <a:ln w="9525">
            <a:solidFill>
              <a:srgbClr val="3D8DFF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69079C-09F6-498C-B23E-061594FD6C4D}"/>
              </a:ext>
            </a:extLst>
          </p:cNvPr>
          <p:cNvSpPr>
            <a:spLocks noGrp="1"/>
          </p:cNvSpPr>
          <p:nvPr/>
        </p:nvSpPr>
        <p:spPr>
          <a:xfrm>
            <a:off x="7813431" y="5368715"/>
            <a:ext cx="2706820" cy="26953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509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275" b="1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5D9B"/>
                </a:solidFill>
                <a:latin typeface="Arial"/>
                <a:ea typeface="Arial"/>
                <a:cs typeface="Arial"/>
              </a:rPr>
              <a:t>10% region + connected components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9BFC8C-2A2F-4980-B122-FCFFAE9B9907}"/>
              </a:ext>
            </a:extLst>
          </p:cNvPr>
          <p:cNvSpPr>
            <a:spLocks noGrp="1"/>
          </p:cNvSpPr>
          <p:nvPr/>
        </p:nvSpPr>
        <p:spPr>
          <a:xfrm>
            <a:off x="1895762" y="5924629"/>
            <a:ext cx="8400477" cy="25268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171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200" b="1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D9B"/>
                </a:solidFill>
                <a:latin typeface="Arial"/>
                <a:ea typeface="Arial"/>
                <a:cs typeface="Arial"/>
              </a:rPr>
              <a:t>Inputs were frozen before the environment scan. No parameter was tuned to the EDT result.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536680E-990C-4689-AE9D-7DFAD656DC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398975-3FCF-4048-91E4-F743CE3938E8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FBAF78-18BE-4AD2-9E81-7355E9702EC3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4CAA654-0851-4FF0-BF2A-874A8714D8EE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D20105D-7428-4B51-A2E8-54544C875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172BB910-C321-4D59-8188-46428732FBA1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C383A7C-DAEC-4951-9142-F41E908D6B25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E9178EE-8169-46E9-B45D-1E368B42BD05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AEEAF6-F772-4706-A13A-10D519525E54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15</a:t>
            </a:r>
          </a:p>
        </p:txBody>
      </p:sp>
    </p:spTree>
    <p:extLst>
      <p:ext uri="{BB962C8B-B14F-4D97-AF65-F5344CB8AC3E}">
        <p14:creationId xmlns:p14="http://schemas.microsoft.com/office/powerpoint/2010/main" val="566279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DB660FB9-7199-4B2B-9275-E3974E032D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17A8CEC-5FD6-485E-A988-0EFDEBE382F3}"/>
              </a:ext>
            </a:extLst>
          </p:cNvPr>
          <p:cNvSpPr>
            <a:spLocks noGrp="1"/>
          </p:cNvSpPr>
          <p:nvPr/>
        </p:nvSpPr>
        <p:spPr>
          <a:xfrm>
            <a:off x="514350" y="1131979"/>
            <a:ext cx="10827281" cy="572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681" lnSpcReduction="20000"/>
          </a:bodyPr>
          <a:lstStyle>
            <a:defPPr>
              <a:defRPr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 algn="l">
              <a:buNone/>
              <a:defRPr sz="2925"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2925" b="1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Environmental detuning moves the optimum without splitting the EDT region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47B990-B557-40B0-8252-6E0DCB55A767}"/>
              </a:ext>
            </a:extLst>
          </p:cNvPr>
          <p:cNvSpPr>
            <a:spLocks noGrp="1"/>
          </p:cNvSpPr>
          <p:nvPr/>
        </p:nvSpPr>
        <p:spPr>
          <a:xfrm>
            <a:off x="514350" y="1696316"/>
            <a:ext cx="765377" cy="33692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32915D-D0A0-4EB9-B94C-0B5C5F046F20}"/>
              </a:ext>
            </a:extLst>
          </p:cNvPr>
          <p:cNvSpPr>
            <a:spLocks noGrp="1"/>
          </p:cNvSpPr>
          <p:nvPr/>
        </p:nvSpPr>
        <p:spPr>
          <a:xfrm>
            <a:off x="514350" y="1940581"/>
            <a:ext cx="8755163" cy="4059854"/>
          </a:xfrm>
          <a:prstGeom prst="roundRect">
            <a:avLst>
              <a:gd name="adj" fmla="val 2905"/>
            </a:avLst>
          </a:prstGeom>
          <a:solidFill>
            <a:srgbClr val="FFFFFF"/>
          </a:solidFill>
          <a:ln w="9525">
            <a:solidFill>
              <a:srgbClr val="D7DBE2"/>
            </a:solidFill>
          </a:ln>
        </p:spPr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4301464-4531-41A3-876B-00C0EB351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68560" y="2058502"/>
            <a:ext cx="7446649" cy="15582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C7E5DA6-673A-42F7-8FCF-8AB1DADCA26D}"/>
              </a:ext>
            </a:extLst>
          </p:cNvPr>
          <p:cNvSpPr>
            <a:spLocks noGrp="1"/>
          </p:cNvSpPr>
          <p:nvPr/>
        </p:nvSpPr>
        <p:spPr>
          <a:xfrm>
            <a:off x="3529188" y="3490401"/>
            <a:ext cx="2706820" cy="202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873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Temperature (K)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92E9CAB-C9B9-462C-8658-FA7D65663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50359" y="3785204"/>
            <a:ext cx="7483051" cy="2055196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1918C50-BC56-4D2F-80FF-3004990350AB}"/>
              </a:ext>
            </a:extLst>
          </p:cNvPr>
          <p:cNvSpPr>
            <a:spLocks noGrp="1"/>
          </p:cNvSpPr>
          <p:nvPr/>
        </p:nvSpPr>
        <p:spPr>
          <a:xfrm>
            <a:off x="9502860" y="1940581"/>
            <a:ext cx="2174790" cy="4059854"/>
          </a:xfrm>
          <a:prstGeom prst="roundRect">
            <a:avLst>
              <a:gd name="adj" fmla="val 6009"/>
            </a:avLst>
          </a:prstGeom>
          <a:solidFill>
            <a:srgbClr val="EAF5FB"/>
          </a:solidFill>
          <a:ln w="9525">
            <a:solidFill>
              <a:srgbClr val="3D8DFF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5B0205-458D-4970-9ABD-AE6C033DBDA3}"/>
              </a:ext>
            </a:extLst>
          </p:cNvPr>
          <p:cNvSpPr>
            <a:spLocks noGrp="1"/>
          </p:cNvSpPr>
          <p:nvPr/>
        </p:nvSpPr>
        <p:spPr>
          <a:xfrm>
            <a:off x="9652202" y="2176423"/>
            <a:ext cx="1876106" cy="21899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665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1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5D9B"/>
                </a:solidFill>
                <a:latin typeface="Arial"/>
                <a:ea typeface="Arial"/>
                <a:cs typeface="Arial"/>
              </a:rPr>
              <a:t>CONFIRMED RESULT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FD2173-C204-48B3-8D1D-1D9FD87A86CB}"/>
              </a:ext>
            </a:extLst>
          </p:cNvPr>
          <p:cNvSpPr>
            <a:spLocks noGrp="1"/>
          </p:cNvSpPr>
          <p:nvPr/>
        </p:nvSpPr>
        <p:spPr>
          <a:xfrm>
            <a:off x="9652202" y="2597570"/>
            <a:ext cx="1876106" cy="21057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39" lnSpcReduction="2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carrier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702E47-7CF0-46B1-9368-3657A1537E0E}"/>
              </a:ext>
            </a:extLst>
          </p:cNvPr>
          <p:cNvSpPr>
            <a:spLocks noGrp="1"/>
          </p:cNvSpPr>
          <p:nvPr/>
        </p:nvSpPr>
        <p:spPr>
          <a:xfrm>
            <a:off x="9652202" y="2850258"/>
            <a:ext cx="1876106" cy="37060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542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32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N = 12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F9AD25-4A94-426D-BD56-D9AE9FC9954D}"/>
              </a:ext>
            </a:extLst>
          </p:cNvPr>
          <p:cNvSpPr>
            <a:spLocks noGrp="1"/>
          </p:cNvSpPr>
          <p:nvPr/>
        </p:nvSpPr>
        <p:spPr>
          <a:xfrm>
            <a:off x="9652202" y="3220867"/>
            <a:ext cx="1876106" cy="33691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330 K, +20 µε example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7EE9EF-6BC6-42D9-98A6-EFE0D33E68A5}"/>
              </a:ext>
            </a:extLst>
          </p:cNvPr>
          <p:cNvSpPr>
            <a:spLocks noGrp="1"/>
          </p:cNvSpPr>
          <p:nvPr/>
        </p:nvSpPr>
        <p:spPr>
          <a:xfrm>
            <a:off x="9652202" y="3793626"/>
            <a:ext cx="1876106" cy="21057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39" lnSpcReduction="2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Carrier retracked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27FB74-3590-4BC9-9BBB-D2163222B04F}"/>
              </a:ext>
            </a:extLst>
          </p:cNvPr>
          <p:cNvSpPr>
            <a:spLocks noGrp="1"/>
          </p:cNvSpPr>
          <p:nvPr/>
        </p:nvSpPr>
        <p:spPr>
          <a:xfrm>
            <a:off x="9652202" y="4046314"/>
            <a:ext cx="1876106" cy="37060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542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325" b="1">
                <a:solidFill>
                  <a:srgbClr val="54A2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4A24B"/>
                </a:solidFill>
                <a:latin typeface="Arial"/>
                <a:ea typeface="Arial"/>
                <a:cs typeface="Arial"/>
              </a:rPr>
              <a:t>N =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60330F-C6B9-41DF-AA44-CB36BD3DE3BD}"/>
              </a:ext>
            </a:extLst>
          </p:cNvPr>
          <p:cNvSpPr>
            <a:spLocks noGrp="1"/>
          </p:cNvSpPr>
          <p:nvPr/>
        </p:nvSpPr>
        <p:spPr>
          <a:xfrm>
            <a:off x="9652202" y="4416924"/>
            <a:ext cx="1876106" cy="33691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863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throughout the displayed slice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0FAA08-1BA4-4D82-8A12-88C568057374}"/>
              </a:ext>
            </a:extLst>
          </p:cNvPr>
          <p:cNvSpPr>
            <a:spLocks noGrp="1"/>
          </p:cNvSpPr>
          <p:nvPr/>
        </p:nvSpPr>
        <p:spPr>
          <a:xfrm>
            <a:off x="9652202" y="4989683"/>
            <a:ext cx="1876106" cy="21057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39" lnSpcReduction="2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Topology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F5F826-BB6F-4BA6-BE12-8063FE65E872}"/>
              </a:ext>
            </a:extLst>
          </p:cNvPr>
          <p:cNvSpPr>
            <a:spLocks noGrp="1"/>
          </p:cNvSpPr>
          <p:nvPr/>
        </p:nvSpPr>
        <p:spPr>
          <a:xfrm>
            <a:off x="9652202" y="5233948"/>
            <a:ext cx="1876106" cy="33691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543" lnSpcReduction="1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250" b="1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5D9B"/>
                </a:solidFill>
                <a:latin typeface="Arial"/>
                <a:ea typeface="Arial"/>
                <a:cs typeface="Arial"/>
              </a:rPr>
              <a:t>β₀ = 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DD9C74-75E1-463F-9A47-D1D246D6E0EA}"/>
              </a:ext>
            </a:extLst>
          </p:cNvPr>
          <p:cNvSpPr>
            <a:spLocks noGrp="1"/>
          </p:cNvSpPr>
          <p:nvPr/>
        </p:nvSpPr>
        <p:spPr>
          <a:xfrm>
            <a:off x="9652202" y="5570865"/>
            <a:ext cx="1876106" cy="32007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298" lnSpcReduction="2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226 / 226 fine-grid confirmations passed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B237B2-5C07-403F-9198-3F76A19B77AC}"/>
              </a:ext>
            </a:extLst>
          </p:cNvPr>
          <p:cNvSpPr>
            <a:spLocks noGrp="1"/>
          </p:cNvSpPr>
          <p:nvPr/>
        </p:nvSpPr>
        <p:spPr>
          <a:xfrm>
            <a:off x="1522407" y="6059396"/>
            <a:ext cx="9147186" cy="25268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985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275" b="1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5D9B"/>
                </a:solidFill>
                <a:latin typeface="Arial"/>
                <a:ea typeface="Arial"/>
                <a:cs typeface="Arial"/>
              </a:rPr>
              <a:t>Environment changes the region’s geometry and recommended depth while its connected-region count stays fixed.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06A868-B43D-4891-9026-8FE40C3EC8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D220A0-9B9C-44EE-9D09-E930A3A7F78F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E4604B-B7BA-4A41-AC58-CD572CD0B5A8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3A482F-731C-48BA-A7DB-BCC8B6C58E80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A18C8B2-BF50-4CFD-8B66-1CC64CB466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2CCFFDF5-4A65-4159-9B1E-B2E462F3661D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65BB71-427C-4164-BD2D-65800093510B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C729149-1418-43E3-8E97-0CC4A0095EBD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9804ED-054C-41A2-B3B5-6C5AB4CB6D5C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16</a:t>
            </a:r>
          </a:p>
        </p:txBody>
      </p:sp>
    </p:spTree>
    <p:extLst>
      <p:ext uri="{BB962C8B-B14F-4D97-AF65-F5344CB8AC3E}">
        <p14:creationId xmlns:p14="http://schemas.microsoft.com/office/powerpoint/2010/main" val="335679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CB31AE2-C733-4CCB-AE60-20AFA8522D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16DC992-AE7B-44FC-9E87-0F9700D0F41D}"/>
              </a:ext>
            </a:extLst>
          </p:cNvPr>
          <p:cNvSpPr>
            <a:spLocks noGrp="1"/>
          </p:cNvSpPr>
          <p:nvPr/>
        </p:nvSpPr>
        <p:spPr>
          <a:xfrm>
            <a:off x="514350" y="1460474"/>
            <a:ext cx="10360588" cy="7917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 b="1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defPPr>
          </a:lstStyle>
          <a:p>
            <a:pPr algn="l">
              <a:buNone/>
              <a:defRPr sz="3225" b="1" i="0">
                <a:solidFill>
                  <a:srgbClr val="0D0D0D"/>
                </a:solidFill>
                <a:latin typeface="Garamond"/>
                <a:ea typeface="Garamond"/>
                <a:cs typeface="Garamond"/>
              </a:defRPr>
            </a:pPr>
            <a:r>
              <a:rPr sz="3225" b="1" i="0">
                <a:solidFill>
                  <a:srgbClr val="0D0D0D"/>
                </a:solidFill>
                <a:latin typeface="Garamond"/>
                <a:ea typeface="Garamond"/>
                <a:cs typeface="Garamond"/>
              </a:rPr>
              <a:t>EDT makes control depth a testable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064CE1-E722-463A-9F39-730FAC59026C}"/>
              </a:ext>
            </a:extLst>
          </p:cNvPr>
          <p:cNvSpPr>
            <a:spLocks noGrp="1"/>
          </p:cNvSpPr>
          <p:nvPr/>
        </p:nvSpPr>
        <p:spPr>
          <a:xfrm>
            <a:off x="514350" y="2336459"/>
            <a:ext cx="1026725" cy="50538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1F9757-A040-44C4-85A3-B901E4736243}"/>
              </a:ext>
            </a:extLst>
          </p:cNvPr>
          <p:cNvSpPr>
            <a:spLocks noGrp="1"/>
          </p:cNvSpPr>
          <p:nvPr/>
        </p:nvSpPr>
        <p:spPr>
          <a:xfrm>
            <a:off x="514350" y="2841835"/>
            <a:ext cx="3490865" cy="232473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7951DD-136A-4479-9122-BF8DEF6EB1D0}"/>
              </a:ext>
            </a:extLst>
          </p:cNvPr>
          <p:cNvSpPr>
            <a:spLocks noGrp="1"/>
          </p:cNvSpPr>
          <p:nvPr/>
        </p:nvSpPr>
        <p:spPr>
          <a:xfrm>
            <a:off x="514350" y="2841835"/>
            <a:ext cx="3490865" cy="58961"/>
          </a:xfrm>
          <a:prstGeom prst="rect">
            <a:avLst/>
          </a:prstGeom>
          <a:solidFill>
            <a:srgbClr val="E45756"/>
          </a:solidFill>
          <a:ln w="0">
            <a:solidFill>
              <a:srgbClr val="E4575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92AA0-CD48-4EAF-8A0B-C59793660249}"/>
              </a:ext>
            </a:extLst>
          </p:cNvPr>
          <p:cNvSpPr>
            <a:spLocks noGrp="1"/>
          </p:cNvSpPr>
          <p:nvPr/>
        </p:nvSpPr>
        <p:spPr>
          <a:xfrm>
            <a:off x="775698" y="3128215"/>
            <a:ext cx="2968168" cy="724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00099A-4F97-4041-9CDE-BE96A149ED4D}"/>
              </a:ext>
            </a:extLst>
          </p:cNvPr>
          <p:cNvSpPr>
            <a:spLocks noGrp="1"/>
          </p:cNvSpPr>
          <p:nvPr/>
        </p:nvSpPr>
        <p:spPr>
          <a:xfrm>
            <a:off x="775698" y="3936816"/>
            <a:ext cx="2968168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Resolved optimum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CEE2FB-27C1-497C-8F99-76FA64B7FCC9}"/>
              </a:ext>
            </a:extLst>
          </p:cNvPr>
          <p:cNvSpPr>
            <a:spLocks noGrp="1"/>
          </p:cNvSpPr>
          <p:nvPr/>
        </p:nvSpPr>
        <p:spPr>
          <a:xfrm>
            <a:off x="775698" y="4568536"/>
            <a:ext cx="2968168" cy="4295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46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At 200 kHz: τ=1.25 μs and a 10% window spanning N=10–34.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D6F7EBE-5803-49BF-B4BB-9547E88BC05E}"/>
              </a:ext>
            </a:extLst>
          </p:cNvPr>
          <p:cNvSpPr>
            <a:spLocks noGrp="1"/>
          </p:cNvSpPr>
          <p:nvPr/>
        </p:nvSpPr>
        <p:spPr>
          <a:xfrm>
            <a:off x="4350568" y="2841835"/>
            <a:ext cx="3490865" cy="232473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117AE6-DC99-4231-9E29-873100A6CB76}"/>
              </a:ext>
            </a:extLst>
          </p:cNvPr>
          <p:cNvSpPr>
            <a:spLocks noGrp="1"/>
          </p:cNvSpPr>
          <p:nvPr/>
        </p:nvSpPr>
        <p:spPr>
          <a:xfrm>
            <a:off x="4350568" y="2841835"/>
            <a:ext cx="3490865" cy="58961"/>
          </a:xfrm>
          <a:prstGeom prst="rect">
            <a:avLst/>
          </a:prstGeom>
          <a:solidFill>
            <a:srgbClr val="F58518"/>
          </a:solidFill>
          <a:ln w="0">
            <a:solidFill>
              <a:srgbClr val="F5851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B7711A-4929-4EDC-8833-458C8A945F52}"/>
              </a:ext>
            </a:extLst>
          </p:cNvPr>
          <p:cNvSpPr>
            <a:spLocks noGrp="1"/>
          </p:cNvSpPr>
          <p:nvPr/>
        </p:nvSpPr>
        <p:spPr>
          <a:xfrm>
            <a:off x="4611916" y="3128215"/>
            <a:ext cx="2968168" cy="724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Pulse error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65E0E8-AFB4-499A-8883-7399CA0C285D}"/>
              </a:ext>
            </a:extLst>
          </p:cNvPr>
          <p:cNvSpPr>
            <a:spLocks noGrp="1"/>
          </p:cNvSpPr>
          <p:nvPr/>
        </p:nvSpPr>
        <p:spPr>
          <a:xfrm>
            <a:off x="4611916" y="3936816"/>
            <a:ext cx="2968168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Dominant depth limiter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01E9F1-BD4A-4C3B-B5A3-7D2DC777321C}"/>
              </a:ext>
            </a:extLst>
          </p:cNvPr>
          <p:cNvSpPr>
            <a:spLocks noGrp="1"/>
          </p:cNvSpPr>
          <p:nvPr/>
        </p:nvSpPr>
        <p:spPr>
          <a:xfrm>
            <a:off x="4611916" y="4568536"/>
            <a:ext cx="2968168" cy="4295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46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Removing pulse errors pushes the optimum to the tested boundary.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4633C29-131C-4077-8990-5EEC87AC371A}"/>
              </a:ext>
            </a:extLst>
          </p:cNvPr>
          <p:cNvSpPr>
            <a:spLocks noGrp="1"/>
          </p:cNvSpPr>
          <p:nvPr/>
        </p:nvSpPr>
        <p:spPr>
          <a:xfrm>
            <a:off x="8186785" y="2841835"/>
            <a:ext cx="3490865" cy="232473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4DDA87-D7A6-4725-A71D-87FC29C85B16}"/>
              </a:ext>
            </a:extLst>
          </p:cNvPr>
          <p:cNvSpPr>
            <a:spLocks noGrp="1"/>
          </p:cNvSpPr>
          <p:nvPr/>
        </p:nvSpPr>
        <p:spPr>
          <a:xfrm>
            <a:off x="8186785" y="2841835"/>
            <a:ext cx="3490865" cy="58961"/>
          </a:xfrm>
          <a:prstGeom prst="rect">
            <a:avLst/>
          </a:prstGeom>
          <a:solidFill>
            <a:srgbClr val="54A24B"/>
          </a:solidFill>
          <a:ln w="0">
            <a:solidFill>
              <a:srgbClr val="54A24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512D98-9373-4E39-8E7E-DED3469D4CF7}"/>
              </a:ext>
            </a:extLst>
          </p:cNvPr>
          <p:cNvSpPr>
            <a:spLocks noGrp="1"/>
          </p:cNvSpPr>
          <p:nvPr/>
        </p:nvSpPr>
        <p:spPr>
          <a:xfrm>
            <a:off x="8448133" y="3128215"/>
            <a:ext cx="2968168" cy="724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 settings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135453-A2EA-4692-A63C-52F2A1A10601}"/>
              </a:ext>
            </a:extLst>
          </p:cNvPr>
          <p:cNvSpPr>
            <a:spLocks noGrp="1"/>
          </p:cNvSpPr>
          <p:nvPr/>
        </p:nvSpPr>
        <p:spPr>
          <a:xfrm>
            <a:off x="8448133" y="3936816"/>
            <a:ext cx="2968168" cy="572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Prospective validation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14E54D-5848-440A-9B33-61A6652F469B}"/>
              </a:ext>
            </a:extLst>
          </p:cNvPr>
          <p:cNvSpPr>
            <a:spLocks noGrp="1"/>
          </p:cNvSpPr>
          <p:nvPr/>
        </p:nvSpPr>
        <p:spPr>
          <a:xfrm>
            <a:off x="8448133" y="4568536"/>
            <a:ext cx="2968168" cy="4295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46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 minimal experiment can confirm or falsify the predicted window.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00C08F4-1D98-4E76-A1F2-965A8E34E737}"/>
              </a:ext>
            </a:extLst>
          </p:cNvPr>
          <p:cNvSpPr>
            <a:spLocks noGrp="1"/>
          </p:cNvSpPr>
          <p:nvPr/>
        </p:nvSpPr>
        <p:spPr>
          <a:xfrm>
            <a:off x="1709084" y="5570865"/>
            <a:ext cx="8773831" cy="589605"/>
          </a:xfrm>
          <a:prstGeom prst="roundRect">
            <a:avLst>
              <a:gd name="adj" fmla="val 17143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B26DD0-0339-4805-B46C-EA8D07605FE5}"/>
              </a:ext>
            </a:extLst>
          </p:cNvPr>
          <p:cNvSpPr>
            <a:spLocks noGrp="1"/>
          </p:cNvSpPr>
          <p:nvPr/>
        </p:nvSpPr>
        <p:spPr>
          <a:xfrm>
            <a:off x="1989100" y="5722478"/>
            <a:ext cx="8213799" cy="3200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4693" lnSpcReduction="20000"/>
          </a:bodyPr>
          <a:lstStyle>
            <a:defPPr>
              <a:defRPr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650" b="1" i="0">
                <a:solidFill>
                  <a:srgbClr val="1F5D9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5D9B"/>
                </a:solidFill>
                <a:latin typeface="Arial"/>
                <a:ea typeface="Arial"/>
                <a:cs typeface="Arial"/>
              </a:rPr>
              <a:t>Next step: measure the seven-point protocol, update the hardware calibration, then let the decision rule select control depth.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C556C0-6450-4073-B08B-CFF46120D1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723E23-4C7E-437B-8CBB-B3169BC78F3E}"/>
              </a:ext>
            </a:extLst>
          </p:cNvPr>
          <p:cNvSpPr>
            <a:spLocks noGrp="1"/>
          </p:cNvSpPr>
          <p:nvPr/>
        </p:nvSpPr>
        <p:spPr>
          <a:xfrm>
            <a:off x="0" y="6219825"/>
            <a:ext cx="12192000" cy="6381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A99564-3B12-4DA2-9F80-67FBB9DBF97E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A100E2-C9BA-46EA-9939-3BC9798C4D08}"/>
              </a:ext>
            </a:extLst>
          </p:cNvPr>
          <p:cNvSpPr>
            <a:spLocks noGrp="1"/>
          </p:cNvSpPr>
          <p:nvPr/>
        </p:nvSpPr>
        <p:spPr>
          <a:xfrm>
            <a:off x="190500" y="6219825"/>
            <a:ext cx="11811000" cy="9525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</a:ln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438EAAA-F1AA-4F5E-B471-8D7FC8D78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25425" y="209550"/>
            <a:ext cx="1016000" cy="70485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8F0B381-1B4A-497F-86FB-E1597AD82D68}"/>
              </a:ext>
            </a:extLst>
          </p:cNvPr>
          <p:cNvSpPr>
            <a:spLocks noGrp="1"/>
          </p:cNvSpPr>
          <p:nvPr/>
        </p:nvSpPr>
        <p:spPr>
          <a:xfrm>
            <a:off x="1524000" y="304800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NORTH ATLANTIC TREATY ORGANIZATION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50D22B-3497-4E3A-BEE6-81A0C2D5C59A}"/>
              </a:ext>
            </a:extLst>
          </p:cNvPr>
          <p:cNvSpPr>
            <a:spLocks noGrp="1"/>
          </p:cNvSpPr>
          <p:nvPr/>
        </p:nvSpPr>
        <p:spPr>
          <a:xfrm>
            <a:off x="1524000" y="523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454"/>
                </a:solidFill>
                <a:latin typeface="Arial"/>
                <a:ea typeface="Arial"/>
                <a:cs typeface="Arial"/>
              </a:rPr>
              <a:t>SCIENCE &amp; TECHNOLOGY ORGANIZATION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7C09DF-38C4-4370-82F9-F44B707721C9}"/>
              </a:ext>
            </a:extLst>
          </p:cNvPr>
          <p:cNvSpPr>
            <a:spLocks noGrp="1"/>
          </p:cNvSpPr>
          <p:nvPr/>
        </p:nvSpPr>
        <p:spPr>
          <a:xfrm>
            <a:off x="285750" y="645795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NATO UNCLASSIFIED RELEASABLE TO STEP Nations and Singapore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15DE043-EDFF-4AB1-9C7C-366FAC17886B}"/>
              </a:ext>
            </a:extLst>
          </p:cNvPr>
          <p:cNvSpPr>
            <a:spLocks noGrp="1"/>
          </p:cNvSpPr>
          <p:nvPr/>
        </p:nvSpPr>
        <p:spPr>
          <a:xfrm>
            <a:off x="9525000" y="6457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def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75" b="0">
                <a:solidFill>
                  <a:srgbClr val="719AC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9AC1"/>
                </a:solidFill>
                <a:latin typeface="Arial"/>
                <a:ea typeface="Arial"/>
                <a:cs typeface="Arial"/>
              </a:rPr>
              <a:t>13/10/2026  |  PAGE 17</a:t>
            </a:r>
          </a:p>
        </p:txBody>
      </p:sp>
    </p:spTree>
    <p:extLst>
      <p:ext uri="{BB962C8B-B14F-4D97-AF65-F5344CB8AC3E}">
        <p14:creationId xmlns:p14="http://schemas.microsoft.com/office/powerpoint/2010/main" val="3489580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1544</Words>
  <Application>Microsoft Macintosh PowerPoint</Application>
  <DocSecurity>0</DocSecurity>
  <PresentationFormat>Widescreen</PresentationFormat>
  <Paragraphs>259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Garamond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Hang Hu</cp:lastModifiedBy>
  <cp:revision>2</cp:revision>
  <dcterms:created xsi:type="dcterms:W3CDTF">2026-10-13T20:32:41Z</dcterms:created>
  <dcterms:modified xsi:type="dcterms:W3CDTF">2026-10-16T13:24:10Z</dcterms:modified>
</cp:coreProperties>
</file>